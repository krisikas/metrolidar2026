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7" r:id="rId2"/>
    <p:sldId id="278" r:id="rId3"/>
    <p:sldId id="314" r:id="rId4"/>
    <p:sldId id="277" r:id="rId5"/>
    <p:sldId id="294" r:id="rId6"/>
    <p:sldId id="293" r:id="rId7"/>
    <p:sldId id="295" r:id="rId8"/>
    <p:sldId id="296" r:id="rId9"/>
    <p:sldId id="297" r:id="rId10"/>
    <p:sldId id="298" r:id="rId11"/>
    <p:sldId id="301" r:id="rId12"/>
    <p:sldId id="302" r:id="rId13"/>
    <p:sldId id="258" r:id="rId14"/>
    <p:sldId id="303" r:id="rId15"/>
    <p:sldId id="305" r:id="rId16"/>
    <p:sldId id="259" r:id="rId17"/>
    <p:sldId id="307" r:id="rId18"/>
    <p:sldId id="308" r:id="rId19"/>
    <p:sldId id="263" r:id="rId20"/>
    <p:sldId id="311" r:id="rId21"/>
    <p:sldId id="312" r:id="rId22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Montserrat" pitchFamily="2" charset="77"/>
      <p:regular r:id="rId28"/>
      <p:bold r:id="rId29"/>
      <p:italic r:id="rId30"/>
      <p:boldItalic r:id="rId31"/>
    </p:embeddedFont>
  </p:embeddedFontLst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/>
    <p:restoredTop sz="94658"/>
  </p:normalViewPr>
  <p:slideViewPr>
    <p:cSldViewPr snapToGrid="0" showGuides="1">
      <p:cViewPr>
        <p:scale>
          <a:sx n="119" d="100"/>
          <a:sy n="119" d="100"/>
        </p:scale>
        <p:origin x="784" y="20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title>
      <c:tx>
        <c:rich>
          <a:bodyPr/>
          <a:lstStyle/>
          <a:p>
            <a:r>
              <a:rPr lang="ru-RU" sz="1300" b="1">
                <a:solidFill>
                  <a:srgbClr val="520978"/>
                </a:solidFill>
              </a:rPr>
              <a:t>Остановочный путь </a:t>
            </a:r>
            <a:r>
              <a:rPr lang="en-GB" sz="1300" b="1">
                <a:solidFill>
                  <a:srgbClr val="520978"/>
                </a:solidFill>
              </a:rPr>
              <a:t>S_brake(V), </a:t>
            </a:r>
            <a:r>
              <a:rPr lang="ru-RU" sz="1300" b="1">
                <a:solidFill>
                  <a:srgbClr val="520978"/>
                </a:solidFill>
              </a:rPr>
              <a:t>м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S_brake(V)</c:v>
                </c:pt>
              </c:strCache>
            </c:strRef>
          </c:tx>
          <c:spPr>
            <a:ln w="38100">
              <a:solidFill>
                <a:srgbClr val="520978"/>
              </a:solidFill>
            </a:ln>
          </c:spPr>
          <c:marker>
            <c:symbol val="none"/>
          </c:marker>
          <c:xVal>
            <c:numRef>
              <c:f>Sheet1!$A$2:$A$86</c:f>
              <c:numCache>
                <c:formatCode>General</c:formatCode>
                <c:ptCount val="8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</c:numCache>
            </c:numRef>
          </c:xVal>
          <c:yVal>
            <c:numRef>
              <c:f>Sheet1!$B$2:$B$86</c:f>
              <c:numCache>
                <c:formatCode>General</c:formatCode>
                <c:ptCount val="85"/>
                <c:pt idx="0">
                  <c:v>10.17</c:v>
                </c:pt>
                <c:pt idx="1">
                  <c:v>10.41</c:v>
                </c:pt>
                <c:pt idx="2">
                  <c:v>10.71</c:v>
                </c:pt>
                <c:pt idx="3">
                  <c:v>11.07</c:v>
                </c:pt>
                <c:pt idx="4">
                  <c:v>11.5</c:v>
                </c:pt>
                <c:pt idx="5">
                  <c:v>11.99</c:v>
                </c:pt>
                <c:pt idx="6">
                  <c:v>12.55</c:v>
                </c:pt>
                <c:pt idx="7">
                  <c:v>13.17</c:v>
                </c:pt>
                <c:pt idx="8">
                  <c:v>13.85</c:v>
                </c:pt>
                <c:pt idx="9">
                  <c:v>14.6</c:v>
                </c:pt>
                <c:pt idx="10">
                  <c:v>15.42</c:v>
                </c:pt>
                <c:pt idx="11">
                  <c:v>16.3</c:v>
                </c:pt>
                <c:pt idx="12">
                  <c:v>17.239999999999998</c:v>
                </c:pt>
                <c:pt idx="13">
                  <c:v>18.25</c:v>
                </c:pt>
                <c:pt idx="14">
                  <c:v>19.32</c:v>
                </c:pt>
                <c:pt idx="15">
                  <c:v>20.45</c:v>
                </c:pt>
                <c:pt idx="16">
                  <c:v>21.65</c:v>
                </c:pt>
                <c:pt idx="17">
                  <c:v>22.92</c:v>
                </c:pt>
                <c:pt idx="18">
                  <c:v>24.25</c:v>
                </c:pt>
                <c:pt idx="19">
                  <c:v>25.64</c:v>
                </c:pt>
                <c:pt idx="20">
                  <c:v>27.09</c:v>
                </c:pt>
                <c:pt idx="21">
                  <c:v>28.62</c:v>
                </c:pt>
                <c:pt idx="22">
                  <c:v>30.2</c:v>
                </c:pt>
                <c:pt idx="23">
                  <c:v>31.85</c:v>
                </c:pt>
                <c:pt idx="24">
                  <c:v>33.57</c:v>
                </c:pt>
                <c:pt idx="25">
                  <c:v>35.340000000000003</c:v>
                </c:pt>
                <c:pt idx="26">
                  <c:v>37.19</c:v>
                </c:pt>
                <c:pt idx="27">
                  <c:v>39.090000000000003</c:v>
                </c:pt>
                <c:pt idx="28">
                  <c:v>41.07</c:v>
                </c:pt>
                <c:pt idx="29">
                  <c:v>43.1</c:v>
                </c:pt>
                <c:pt idx="30">
                  <c:v>45.2</c:v>
                </c:pt>
                <c:pt idx="31">
                  <c:v>47.37</c:v>
                </c:pt>
                <c:pt idx="32">
                  <c:v>49.59</c:v>
                </c:pt>
                <c:pt idx="33">
                  <c:v>51.89</c:v>
                </c:pt>
                <c:pt idx="34">
                  <c:v>54.25</c:v>
                </c:pt>
                <c:pt idx="35">
                  <c:v>56.67</c:v>
                </c:pt>
                <c:pt idx="36">
                  <c:v>59.15</c:v>
                </c:pt>
                <c:pt idx="37">
                  <c:v>61.7</c:v>
                </c:pt>
                <c:pt idx="38">
                  <c:v>64.319999999999993</c:v>
                </c:pt>
                <c:pt idx="39">
                  <c:v>67</c:v>
                </c:pt>
                <c:pt idx="40">
                  <c:v>69.739999999999995</c:v>
                </c:pt>
                <c:pt idx="41">
                  <c:v>72.55</c:v>
                </c:pt>
                <c:pt idx="42">
                  <c:v>75.42</c:v>
                </c:pt>
                <c:pt idx="43">
                  <c:v>78.349999999999994</c:v>
                </c:pt>
                <c:pt idx="44">
                  <c:v>81.349999999999994</c:v>
                </c:pt>
                <c:pt idx="45">
                  <c:v>84.42</c:v>
                </c:pt>
                <c:pt idx="46">
                  <c:v>87.55</c:v>
                </c:pt>
                <c:pt idx="47">
                  <c:v>90.74</c:v>
                </c:pt>
                <c:pt idx="48">
                  <c:v>94</c:v>
                </c:pt>
                <c:pt idx="49">
                  <c:v>97.32</c:v>
                </c:pt>
                <c:pt idx="50">
                  <c:v>100.71</c:v>
                </c:pt>
                <c:pt idx="51">
                  <c:v>104.16</c:v>
                </c:pt>
                <c:pt idx="52">
                  <c:v>107.67</c:v>
                </c:pt>
                <c:pt idx="53">
                  <c:v>111.25</c:v>
                </c:pt>
                <c:pt idx="54">
                  <c:v>114.89</c:v>
                </c:pt>
                <c:pt idx="55">
                  <c:v>118.6</c:v>
                </c:pt>
                <c:pt idx="56">
                  <c:v>122.37</c:v>
                </c:pt>
                <c:pt idx="57">
                  <c:v>126.21</c:v>
                </c:pt>
                <c:pt idx="58">
                  <c:v>130.11000000000001</c:v>
                </c:pt>
                <c:pt idx="59">
                  <c:v>134.07</c:v>
                </c:pt>
                <c:pt idx="60">
                  <c:v>138.1</c:v>
                </c:pt>
                <c:pt idx="61">
                  <c:v>142.19999999999999</c:v>
                </c:pt>
                <c:pt idx="62">
                  <c:v>146.35</c:v>
                </c:pt>
                <c:pt idx="63">
                  <c:v>150.58000000000001</c:v>
                </c:pt>
                <c:pt idx="64">
                  <c:v>154.86000000000001</c:v>
                </c:pt>
                <c:pt idx="65">
                  <c:v>159.21</c:v>
                </c:pt>
                <c:pt idx="66">
                  <c:v>163.63</c:v>
                </c:pt>
                <c:pt idx="67">
                  <c:v>168.11</c:v>
                </c:pt>
                <c:pt idx="68">
                  <c:v>172.65</c:v>
                </c:pt>
                <c:pt idx="69">
                  <c:v>177.26</c:v>
                </c:pt>
                <c:pt idx="70">
                  <c:v>181.93</c:v>
                </c:pt>
                <c:pt idx="71">
                  <c:v>186.67</c:v>
                </c:pt>
                <c:pt idx="72">
                  <c:v>191.47</c:v>
                </c:pt>
                <c:pt idx="73">
                  <c:v>196.33</c:v>
                </c:pt>
                <c:pt idx="74">
                  <c:v>201.26</c:v>
                </c:pt>
                <c:pt idx="75">
                  <c:v>206.26</c:v>
                </c:pt>
                <c:pt idx="76">
                  <c:v>211.31</c:v>
                </c:pt>
                <c:pt idx="77">
                  <c:v>216.44</c:v>
                </c:pt>
                <c:pt idx="78">
                  <c:v>221.62</c:v>
                </c:pt>
                <c:pt idx="79">
                  <c:v>226.87</c:v>
                </c:pt>
                <c:pt idx="80">
                  <c:v>232.19</c:v>
                </c:pt>
                <c:pt idx="81">
                  <c:v>237.57</c:v>
                </c:pt>
                <c:pt idx="82">
                  <c:v>243.01</c:v>
                </c:pt>
                <c:pt idx="83">
                  <c:v>248.52</c:v>
                </c:pt>
                <c:pt idx="84">
                  <c:v>254.09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C7D-904E-B9FD-BFE26A10461C}"/>
            </c:ext>
          </c:extLst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Горизонт контроля 150 м</c:v>
                </c:pt>
              </c:strCache>
            </c:strRef>
          </c:tx>
          <c:spPr>
            <a:ln w="19050">
              <a:solidFill>
                <a:srgbClr val="8A83D1"/>
              </a:solidFill>
              <a:prstDash val="dash"/>
            </a:ln>
          </c:spPr>
          <c:marker>
            <c:symbol val="none"/>
          </c:marker>
          <c:xVal>
            <c:numRef>
              <c:f>Sheet1!$A$89:$A$90</c:f>
              <c:numCache>
                <c:formatCode>General</c:formatCode>
                <c:ptCount val="2"/>
                <c:pt idx="0">
                  <c:v>0</c:v>
                </c:pt>
                <c:pt idx="1">
                  <c:v>85</c:v>
                </c:pt>
              </c:numCache>
            </c:numRef>
          </c:xVal>
          <c:yVal>
            <c:numRef>
              <c:f>Sheet1!$B$89:$B$90</c:f>
              <c:numCache>
                <c:formatCode>General</c:formatCode>
                <c:ptCount val="2"/>
                <c:pt idx="0">
                  <c:v>150</c:v>
                </c:pt>
                <c:pt idx="1">
                  <c:v>150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C7D-904E-B9FD-BFE26A10461C}"/>
            </c:ext>
          </c:extLst>
        </c:ser>
        <c:ser>
          <c:idx val="2"/>
          <c:order val="2"/>
          <c:tx>
            <c:strRef>
              <c:f>Sheet1!$B$92</c:f>
              <c:strCache>
                <c:ptCount val="1"/>
                <c:pt idx="0">
                  <c:v>Значения в Web GUI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FF0053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Sheet1!$A$93:$A$94</c:f>
              <c:numCache>
                <c:formatCode>General</c:formatCode>
                <c:ptCount val="2"/>
                <c:pt idx="0">
                  <c:v>24.3</c:v>
                </c:pt>
                <c:pt idx="1">
                  <c:v>43.9</c:v>
                </c:pt>
              </c:numCache>
            </c:numRef>
          </c:xVal>
          <c:yVal>
            <c:numRef>
              <c:f>Sheet1!$B$93:$B$94</c:f>
              <c:numCache>
                <c:formatCode>General</c:formatCode>
                <c:ptCount val="2"/>
                <c:pt idx="0">
                  <c:v>32.4</c:v>
                </c:pt>
                <c:pt idx="1">
                  <c:v>78.2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C7D-904E-B9FD-BFE26A1046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8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ru-RU" sz="1000" b="0">
                    <a:solidFill>
                      <a:srgbClr val="5A5470"/>
                    </a:solidFill>
                  </a:rPr>
                  <a:t>скорость </a:t>
                </a:r>
                <a:r>
                  <a:rPr lang="en-GB" sz="1000" b="0">
                    <a:solidFill>
                      <a:srgbClr val="5A5470"/>
                    </a:solidFill>
                  </a:rPr>
                  <a:t>V, </a:t>
                </a:r>
                <a:r>
                  <a:rPr lang="ru-RU" sz="1000" b="0">
                    <a:solidFill>
                      <a:srgbClr val="5A5470"/>
                    </a:solidFill>
                  </a:rPr>
                  <a:t>км/ч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B9B3D9"/>
            </a:solidFill>
          </a:ln>
        </c:spPr>
        <c:txPr>
          <a:bodyPr/>
          <a:lstStyle/>
          <a:p>
            <a:pPr>
              <a:defRPr sz="1000">
                <a:solidFill>
                  <a:srgbClr val="5A5470"/>
                </a:solidFill>
              </a:defRPr>
            </a:pPr>
            <a:endParaRPr lang="en-DE"/>
          </a:p>
        </c:txPr>
        <c:crossAx val="-2129643912"/>
        <c:crosses val="autoZero"/>
        <c:crossBetween val="midCat"/>
        <c:majorUnit val="10"/>
      </c:valAx>
      <c:valAx>
        <c:axId val="-2129643912"/>
        <c:scaling>
          <c:orientation val="minMax"/>
          <c:max val="260"/>
          <c:min val="0"/>
        </c:scaling>
        <c:delete val="0"/>
        <c:axPos val="l"/>
        <c:majorGridlines>
          <c:spPr>
            <a:ln>
              <a:solidFill>
                <a:srgbClr val="E6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ru-RU" sz="1000" b="0">
                    <a:solidFill>
                      <a:srgbClr val="5A5470"/>
                    </a:solidFill>
                  </a:rPr>
                  <a:t>м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B9B3D9"/>
            </a:solidFill>
          </a:ln>
        </c:spPr>
        <c:txPr>
          <a:bodyPr/>
          <a:lstStyle/>
          <a:p>
            <a:pPr>
              <a:defRPr sz="1000">
                <a:solidFill>
                  <a:srgbClr val="5A5470"/>
                </a:solidFill>
              </a:defRPr>
            </a:pPr>
            <a:endParaRPr lang="en-DE"/>
          </a:p>
        </c:txPr>
        <c:crossAx val="-2128940872"/>
        <c:crosses val="autoZero"/>
        <c:crossBetween val="midCat"/>
        <c:majorUnit val="50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1C1D22"/>
              </a:solidFill>
            </a:defRPr>
          </a:pPr>
          <a:endParaRPr lang="en-D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ru-RU" sz="1300" b="1">
                <a:solidFill>
                  <a:srgbClr val="520978"/>
                </a:solidFill>
              </a:rPr>
              <a:t>Дистанция обнаружения, м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Дистанция обнаружения, м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0053"/>
              </a:solidFill>
            </c:spPr>
            <c:extLst>
              <c:ext xmlns:c16="http://schemas.microsoft.com/office/drawing/2014/chart" uri="{C3380CC4-5D6E-409C-BE32-E72D297353CC}">
                <c16:uniqueId val="{00000001-175A-C647-BF18-662A262D609F}"/>
              </c:ext>
            </c:extLst>
          </c:dPt>
          <c:dPt>
            <c:idx val="1"/>
            <c:invertIfNegative val="1"/>
            <c:bubble3D val="0"/>
            <c:spPr>
              <a:solidFill>
                <a:srgbClr val="FF0053"/>
              </a:solidFill>
            </c:spPr>
            <c:extLst>
              <c:ext xmlns:c16="http://schemas.microsoft.com/office/drawing/2014/chart" uri="{C3380CC4-5D6E-409C-BE32-E72D297353CC}">
                <c16:uniqueId val="{00000003-175A-C647-BF18-662A262D609F}"/>
              </c:ext>
            </c:extLst>
          </c:dPt>
          <c:dPt>
            <c:idx val="2"/>
            <c:invertIfNegative val="1"/>
            <c:bubble3D val="0"/>
            <c:spPr>
              <a:solidFill>
                <a:srgbClr val="FF0053"/>
              </a:solidFill>
            </c:spPr>
            <c:extLst>
              <c:ext xmlns:c16="http://schemas.microsoft.com/office/drawing/2014/chart" uri="{C3380CC4-5D6E-409C-BE32-E72D297353CC}">
                <c16:uniqueId val="{00000005-175A-C647-BF18-662A262D609F}"/>
              </c:ext>
            </c:extLst>
          </c:dPt>
          <c:dPt>
            <c:idx val="3"/>
            <c:invertIfNegative val="1"/>
            <c:bubble3D val="0"/>
            <c:spPr>
              <a:solidFill>
                <a:srgbClr val="8A83D1"/>
              </a:solidFill>
            </c:spPr>
            <c:extLst>
              <c:ext xmlns:c16="http://schemas.microsoft.com/office/drawing/2014/chart" uri="{C3380CC4-5D6E-409C-BE32-E72D297353CC}">
                <c16:uniqueId val="{00000007-175A-C647-BF18-662A262D609F}"/>
              </c:ext>
            </c:extLst>
          </c:dPt>
          <c:dPt>
            <c:idx val="4"/>
            <c:invertIfNegative val="1"/>
            <c:bubble3D val="0"/>
            <c:spPr>
              <a:solidFill>
                <a:srgbClr val="8A83D1"/>
              </a:solidFill>
            </c:spPr>
            <c:extLst>
              <c:ext xmlns:c16="http://schemas.microsoft.com/office/drawing/2014/chart" uri="{C3380CC4-5D6E-409C-BE32-E72D297353CC}">
                <c16:uniqueId val="{00000009-175A-C647-BF18-662A262D609F}"/>
              </c:ext>
            </c:extLst>
          </c:dPt>
          <c:dLbls>
            <c:numFmt formatCode="0.0&quot; м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520978"/>
                    </a:solidFill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Малый предмет 0.31 × 0.30 м</c:v>
                </c:pt>
                <c:pt idx="1">
                  <c:v>Крупный объект 1.92 × 1.60 м</c:v>
                </c:pt>
                <c:pt idx="2">
                  <c:v>Брус на рельсах 2.08 × 0.43 м</c:v>
                </c:pt>
                <c:pt idx="3">
                  <c:v>Объект на кромке габарита</c:v>
                </c:pt>
                <c:pt idx="4">
                  <c:v>Свисающий кабель Ø 0.05 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17.100000000000001</c:v>
                </c:pt>
                <c:pt idx="1">
                  <c:v>28.3</c:v>
                </c:pt>
                <c:pt idx="2">
                  <c:v>65.7</c:v>
                </c:pt>
                <c:pt idx="3">
                  <c:v>88.1</c:v>
                </c:pt>
                <c:pt idx="4">
                  <c:v>127.2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75A-C647-BF18-662A262D60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9B3D9"/>
            </a:solidFill>
          </a:ln>
        </c:spPr>
        <c:txPr>
          <a:bodyPr/>
          <a:lstStyle/>
          <a:p>
            <a:pPr>
              <a:defRPr sz="1000">
                <a:solidFill>
                  <a:srgbClr val="1C1D22"/>
                </a:solidFill>
              </a:defRPr>
            </a:pPr>
            <a:endParaRPr lang="en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0"/>
          <c:min val="0"/>
        </c:scaling>
        <c:delete val="0"/>
        <c:axPos val="b"/>
        <c:majorGridlines>
          <c:spPr>
            <a:ln>
              <a:solidFill>
                <a:srgbClr val="E6E2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5A5470"/>
                </a:solidFill>
              </a:defRPr>
            </a:pPr>
            <a:endParaRPr lang="en-DE"/>
          </a:p>
        </c:txPr>
        <c:crossAx val="-2068027336"/>
        <c:crosses val="autoZero"/>
        <c:crossBetween val="between"/>
        <c:majorUnit val="2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времени</c:v>
                </c:pt>
              </c:strCache>
            </c:strRef>
          </c:tx>
          <c:dPt>
            <c:idx val="0"/>
            <c:bubble3D val="0"/>
            <c:spPr>
              <a:solidFill>
                <a:srgbClr val="520978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07FB-8A4B-8807-50A32E540B8C}"/>
              </c:ext>
            </c:extLst>
          </c:dPt>
          <c:dPt>
            <c:idx val="1"/>
            <c:bubble3D val="0"/>
            <c:spPr>
              <a:solidFill>
                <a:srgbClr val="8A83D1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07FB-8A4B-8807-50A32E540B8C}"/>
              </c:ext>
            </c:extLst>
          </c:dPt>
          <c:dPt>
            <c:idx val="2"/>
            <c:bubble3D val="0"/>
            <c:spPr>
              <a:solidFill>
                <a:srgbClr val="FC3777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07FB-8A4B-8807-50A32E540B8C}"/>
              </c:ext>
            </c:extLst>
          </c:dPt>
          <c:dPt>
            <c:idx val="3"/>
            <c:bubble3D val="0"/>
            <c:spPr>
              <a:solidFill>
                <a:srgbClr val="FF0053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07FB-8A4B-8807-50A32E540B8C}"/>
              </c:ext>
            </c:extLst>
          </c:dPt>
          <c:dPt>
            <c:idx val="4"/>
            <c:bubble3D val="0"/>
            <c:spPr>
              <a:solidFill>
                <a:srgbClr val="9B4DCA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07FB-8A4B-8807-50A32E540B8C}"/>
              </c:ext>
            </c:extLst>
          </c:dPt>
          <c:dPt>
            <c:idx val="5"/>
            <c:bubble3D val="0"/>
            <c:spPr>
              <a:solidFill>
                <a:srgbClr val="310F53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07FB-8A4B-8807-50A32E540B8C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CloudParser</c:v>
                </c:pt>
                <c:pt idx="1">
                  <c:v>DualRailTracker</c:v>
                </c:pt>
                <c:pt idx="2">
                  <c:v>TrackGeometrySpline</c:v>
                </c:pt>
                <c:pt idx="3">
                  <c:v>ClearanceEnvelopeSDF</c:v>
                </c:pt>
                <c:pt idx="4">
                  <c:v>Детекторы + трекер</c:v>
                </c:pt>
                <c:pt idx="5">
                  <c:v>Скорость + решение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</c:v>
                </c:pt>
                <c:pt idx="1">
                  <c:v>0.11</c:v>
                </c:pt>
                <c:pt idx="2">
                  <c:v>0.14000000000000001</c:v>
                </c:pt>
                <c:pt idx="3">
                  <c:v>0.34</c:v>
                </c:pt>
                <c:pt idx="4">
                  <c:v>0.12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FB-8A4B-8807-50A32E540B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DE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C43475-0388-A1CF-A237-C3DDA43AF159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BE8A63-6423-9D1A-6C53-0FD2972D0E4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5F3B14-7AC8-406F-A299-37D374056E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527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A587D8-8F04-A414-55B2-E381BEC84274}" type="slidenum">
              <a:rPr/>
              <a:t>13</a:t>
            </a:fld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699502-FB5D-014C-BD92-CBACB4CAF66F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d/If8lk82Lm65f6g" TargetMode="External"/><Relationship Id="rId2" Type="http://schemas.openxmlformats.org/officeDocument/2006/relationships/hyperlink" Target="https://github.com/krisikas/MetroLidar2026" TargetMode="Externa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17079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 dirty="0"/>
          </a:p>
        </p:txBody>
      </p:sp>
      <p:sp>
        <p:nvSpPr>
          <p:cNvPr id="973814929" name="Прямоугольник 19"/>
          <p:cNvSpPr/>
          <p:nvPr/>
        </p:nvSpPr>
        <p:spPr bwMode="auto">
          <a:xfrm>
            <a:off x="1795144" y="5304563"/>
            <a:ext cx="8203394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br>
              <a:rPr lang="ru-RU" sz="1850" dirty="0">
                <a:solidFill>
                  <a:srgbClr val="E4EAE9"/>
                </a:solidFill>
              </a:rPr>
            </a:br>
            <a:br>
              <a:rPr lang="ru-RU" sz="1850" dirty="0">
                <a:solidFill>
                  <a:srgbClr val="E4EAE9"/>
                </a:solidFill>
              </a:rPr>
            </a:br>
            <a:endParaRPr lang="ru-RU" sz="1850" dirty="0">
              <a:solidFill>
                <a:srgbClr val="E4EAE9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B28DB30-3E03-55FE-D3DB-6FD0121B8AA8}"/>
              </a:ext>
            </a:extLst>
          </p:cNvPr>
          <p:cNvSpPr txBox="1">
            <a:spLocks/>
          </p:cNvSpPr>
          <p:nvPr/>
        </p:nvSpPr>
        <p:spPr bwMode="auto">
          <a:xfrm>
            <a:off x="0" y="2566980"/>
            <a:ext cx="8516678" cy="1706743"/>
          </a:xfrm>
          <a:prstGeom prst="rect">
            <a:avLst/>
          </a:prstGeom>
        </p:spPr>
        <p:txBody>
          <a:bodyPr lIns="411480"/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r>
              <a:rPr lang="ru-RU" sz="4000" dirty="0"/>
              <a:t>Контроль габарита и детекция препятствий по 3</a:t>
            </a:r>
            <a:r>
              <a:rPr lang="en-GB" sz="4000" dirty="0"/>
              <a:t>D-</a:t>
            </a:r>
            <a:r>
              <a:rPr lang="ru-RU" sz="4000" dirty="0" err="1"/>
              <a:t>лидару</a:t>
            </a:r>
            <a:endParaRPr lang="ru-RU" sz="400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AE3EFEEF-D4D0-53C8-8A15-88BF19FED6B5}"/>
              </a:ext>
            </a:extLst>
          </p:cNvPr>
          <p:cNvSpPr txBox="1">
            <a:spLocks/>
          </p:cNvSpPr>
          <p:nvPr/>
        </p:nvSpPr>
        <p:spPr bwMode="auto">
          <a:xfrm>
            <a:off x="0" y="4728753"/>
            <a:ext cx="7646894" cy="757174"/>
          </a:xfrm>
          <a:prstGeom prst="rect">
            <a:avLst/>
          </a:prstGeom>
        </p:spPr>
        <p:txBody>
          <a:bodyPr lIns="411480" anchor="ctr"/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Задача №5 · Департамент транспорта Москвы / Московский метрополитен </a:t>
            </a:r>
            <a:endParaRPr lang="en-US" sz="1600" dirty="0"/>
          </a:p>
          <a:p>
            <a:r>
              <a:rPr lang="ru-RU" sz="1600" dirty="0"/>
              <a:t>Команда </a:t>
            </a:r>
            <a:r>
              <a:rPr lang="ru-RU" sz="1600" b="1" dirty="0"/>
              <a:t>«МОПСЫ»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722206D0-17EB-C058-EB58-79CEDB84B3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15284" y="338260"/>
            <a:ext cx="1361431" cy="3721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2">
            <a:extLst>
              <a:ext uri="{FF2B5EF4-FFF2-40B4-BE49-F238E27FC236}">
                <a16:creationId xmlns:a16="http://schemas.microsoft.com/office/drawing/2014/main" id="{2EE8B960-846B-0CC9-FE32-BD0EE7A0A3CD}"/>
              </a:ext>
            </a:extLst>
          </p:cNvPr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4B207C15-1234-D558-2033-E7FC221784CF}"/>
              </a:ext>
            </a:extLst>
          </p:cNvPr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650C9C0A-C4B8-4A10-4227-692448C867A1}"/>
              </a:ext>
            </a:extLst>
          </p:cNvPr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Не классифицирует объекты, а проверяет «нарушен ли габарит?»: аналитическое поле расстояний ГОСТ 9238 в базисе пути, скорость по самому облаку, без обучающих данных.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7BF0D203-3C93-7B3C-53CF-770D50922FB7}"/>
              </a:ext>
            </a:extLst>
          </p:cNvPr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Тарасов Демьян Михайлович, школьник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С другом заинтересовала тема задания, решили поучаствовать скромной командой.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Физтех-лицей г. Долгопрудный, </a:t>
            </a:r>
            <a:r>
              <a:rPr lang="ru-RU" i="1" dirty="0" err="1">
                <a:solidFill>
                  <a:schemeClr val="tx1"/>
                </a:solidFill>
              </a:rPr>
              <a:t>Кванториум</a:t>
            </a:r>
            <a:r>
              <a:rPr lang="ru-RU" i="1" dirty="0">
                <a:solidFill>
                  <a:schemeClr val="tx1"/>
                </a:solidFill>
              </a:rPr>
              <a:t> г. Воронеж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endParaRPr lang="ru-RU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Московская Область, г. Долгопрудный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Воронежская область, г. Воронеж</a:t>
            </a:r>
            <a:endParaRPr lang="ru-RU" dirty="0"/>
          </a:p>
          <a:p>
            <a:pPr mar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D8D24098-3B1C-9CB3-0403-332241EAE0A8}"/>
              </a:ext>
            </a:extLst>
          </p:cNvPr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21" name="Заголовок 6">
            <a:extLst>
              <a:ext uri="{FF2B5EF4-FFF2-40B4-BE49-F238E27FC236}">
                <a16:creationId xmlns:a16="http://schemas.microsoft.com/office/drawing/2014/main" id="{ADBE0E1D-CFDF-6CD1-9374-49C0CBAF080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r>
              <a:rPr>
                <a:solidFill>
                  <a:srgbClr val="520978"/>
                </a:solidFill>
              </a:rPr>
              <a:t>Команда «МОПСЫ»</a:t>
            </a:r>
          </a:p>
        </p:txBody>
      </p:sp>
      <p:cxnSp>
        <p:nvCxnSpPr>
          <p:cNvPr id="22" name="Прямая соединительная линия 6">
            <a:extLst>
              <a:ext uri="{FF2B5EF4-FFF2-40B4-BE49-F238E27FC236}">
                <a16:creationId xmlns:a16="http://schemas.microsoft.com/office/drawing/2014/main" id="{0CCDFBBA-EF6A-0B01-5E09-C619EFF02ABE}"/>
              </a:ext>
            </a:extLst>
          </p:cNvPr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15">
            <a:extLst>
              <a:ext uri="{FF2B5EF4-FFF2-40B4-BE49-F238E27FC236}">
                <a16:creationId xmlns:a16="http://schemas.microsoft.com/office/drawing/2014/main" id="{8726F068-7D0D-0D84-39DD-AB6EF433D79B}"/>
              </a:ext>
            </a:extLst>
          </p:cNvPr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16">
            <a:extLst>
              <a:ext uri="{FF2B5EF4-FFF2-40B4-BE49-F238E27FC236}">
                <a16:creationId xmlns:a16="http://schemas.microsoft.com/office/drawing/2014/main" id="{6A9165F6-54AD-7FAF-B4ED-9DC524ADA92D}"/>
              </a:ext>
            </a:extLst>
          </p:cNvPr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Текст 8">
            <a:extLst>
              <a:ext uri="{FF2B5EF4-FFF2-40B4-BE49-F238E27FC236}">
                <a16:creationId xmlns:a16="http://schemas.microsoft.com/office/drawing/2014/main" id="{31EDF301-18E8-774B-6B2D-FBC69973DE89}"/>
              </a:ext>
            </a:extLst>
          </p:cNvPr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26" name="Текст 8">
            <a:extLst>
              <a:ext uri="{FF2B5EF4-FFF2-40B4-BE49-F238E27FC236}">
                <a16:creationId xmlns:a16="http://schemas.microsoft.com/office/drawing/2014/main" id="{AA19F3FD-4F9A-D770-411E-3DE0A4CCFFC8}"/>
              </a:ext>
            </a:extLst>
          </p:cNvPr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Программный комплекс на ROS 2: по потоку бортового 3D-лидара в реальном времени проверяет свободность габарита «М» на 150 м вперёд и выдаёт дистанцию, размеры и уровень угрозы препятствия.</a:t>
            </a:r>
          </a:p>
        </p:txBody>
      </p:sp>
      <p:sp>
        <p:nvSpPr>
          <p:cNvPr id="27" name="Номер слайда 35">
            <a:extLst>
              <a:ext uri="{FF2B5EF4-FFF2-40B4-BE49-F238E27FC236}">
                <a16:creationId xmlns:a16="http://schemas.microsoft.com/office/drawing/2014/main" id="{244E9E6A-BEF5-C06F-3876-DB8710F9DABE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31" name="Picture 30" descr="A puppy in a cup&#10;&#10;AI-generated content may be incorrect.">
            <a:extLst>
              <a:ext uri="{FF2B5EF4-FFF2-40B4-BE49-F238E27FC236}">
                <a16:creationId xmlns:a16="http://schemas.microsoft.com/office/drawing/2014/main" id="{3E408531-B6EC-F2FA-7C86-73D02D350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7" b="29085"/>
          <a:stretch/>
        </p:blipFill>
        <p:spPr>
          <a:xfrm>
            <a:off x="-1" y="1"/>
            <a:ext cx="6456363" cy="2971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6938683" y="1435945"/>
            <a:ext cx="3789858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7344981" y="4413866"/>
            <a:ext cx="3274178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Инженер программист </a:t>
            </a:r>
            <a:r>
              <a:rPr lang="en-US" dirty="0">
                <a:solidFill>
                  <a:schemeClr val="tx1"/>
                </a:solidFill>
              </a:rPr>
              <a:t>ROS2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TG @</a:t>
            </a:r>
            <a:r>
              <a:rPr lang="en-US" dirty="0" err="1">
                <a:solidFill>
                  <a:schemeClr val="tx1"/>
                </a:solidFill>
              </a:rPr>
              <a:t>demanok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+7 (982) 119 17-03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АНОО «Физтех-лицей» им. П. Л. Капицы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7344981" y="4066709"/>
            <a:ext cx="297726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Тарасов Демьян</a:t>
            </a:r>
            <a:endParaRPr dirty="0"/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668967" y="449787"/>
            <a:ext cx="463455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КОМАНДА: «МОПСЫ»</a:t>
            </a:r>
          </a:p>
        </p:txBody>
      </p:sp>
      <p:pic>
        <p:nvPicPr>
          <p:cNvPr id="5" name="Picture 4" descr="A person looking up to the side&#10;&#10;AI-generated content may be incorrect.">
            <a:extLst>
              <a:ext uri="{FF2B5EF4-FFF2-40B4-BE49-F238E27FC236}">
                <a16:creationId xmlns:a16="http://schemas.microsoft.com/office/drawing/2014/main" id="{BE897980-D970-F000-E16F-24BF2B01E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082" y="1806376"/>
            <a:ext cx="2237059" cy="22370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Скругленный прямоугольник 55">
            <a:extLst>
              <a:ext uri="{FF2B5EF4-FFF2-40B4-BE49-F238E27FC236}">
                <a16:creationId xmlns:a16="http://schemas.microsoft.com/office/drawing/2014/main" id="{95CB8ED2-9823-084D-443F-8F7248883ACF}"/>
              </a:ext>
            </a:extLst>
          </p:cNvPr>
          <p:cNvSpPr/>
          <p:nvPr/>
        </p:nvSpPr>
        <p:spPr bwMode="auto">
          <a:xfrm>
            <a:off x="1420429" y="1435945"/>
            <a:ext cx="3789858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E89DB502-95ED-E6D0-2EE9-49117F9F7A4A}"/>
              </a:ext>
            </a:extLst>
          </p:cNvPr>
          <p:cNvSpPr txBox="1"/>
          <p:nvPr/>
        </p:nvSpPr>
        <p:spPr bwMode="auto">
          <a:xfrm>
            <a:off x="1826727" y="4413866"/>
            <a:ext cx="3274178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500" dirty="0">
                <a:solidFill>
                  <a:schemeClr val="tx1"/>
                </a:solidFill>
              </a:rPr>
              <a:t>Программист алгоритмов и анализа данных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500" dirty="0">
                <a:solidFill>
                  <a:schemeClr val="tx1"/>
                </a:solidFill>
              </a:rPr>
              <a:t>TG @</a:t>
            </a:r>
            <a:r>
              <a:rPr lang="en-US" sz="1500" dirty="0" err="1">
                <a:solidFill>
                  <a:schemeClr val="tx1"/>
                </a:solidFill>
              </a:rPr>
              <a:t>MatveyKondaurov</a:t>
            </a:r>
            <a:endParaRPr lang="ru-RU" sz="15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500" dirty="0">
                <a:solidFill>
                  <a:schemeClr val="tx1"/>
                </a:solidFill>
              </a:rPr>
              <a:t>+7</a:t>
            </a:r>
            <a:r>
              <a:rPr lang="ru-RU" sz="1500" dirty="0">
                <a:solidFill>
                  <a:schemeClr val="tx1"/>
                </a:solidFill>
              </a:rPr>
              <a:t> (</a:t>
            </a:r>
            <a:r>
              <a:rPr lang="en-US" sz="1500" dirty="0">
                <a:solidFill>
                  <a:schemeClr val="tx1"/>
                </a:solidFill>
              </a:rPr>
              <a:t>920</a:t>
            </a:r>
            <a:r>
              <a:rPr lang="ru-RU" sz="1500" dirty="0">
                <a:solidFill>
                  <a:schemeClr val="tx1"/>
                </a:solidFill>
              </a:rPr>
              <a:t>) </a:t>
            </a:r>
            <a:r>
              <a:rPr lang="en-US" sz="1500" dirty="0">
                <a:solidFill>
                  <a:schemeClr val="tx1"/>
                </a:solidFill>
              </a:rPr>
              <a:t>400</a:t>
            </a:r>
            <a:r>
              <a:rPr lang="ru-RU" sz="1500" dirty="0">
                <a:solidFill>
                  <a:schemeClr val="tx1"/>
                </a:solidFill>
              </a:rPr>
              <a:t> </a:t>
            </a:r>
            <a:r>
              <a:rPr lang="en-US" sz="1500" dirty="0">
                <a:solidFill>
                  <a:schemeClr val="tx1"/>
                </a:solidFill>
              </a:rPr>
              <a:t>02</a:t>
            </a:r>
            <a:r>
              <a:rPr lang="ru-RU" sz="1500" dirty="0">
                <a:solidFill>
                  <a:schemeClr val="tx1"/>
                </a:solidFill>
              </a:rPr>
              <a:t>-</a:t>
            </a:r>
            <a:r>
              <a:rPr lang="en-US" sz="1500" dirty="0">
                <a:solidFill>
                  <a:schemeClr val="tx1"/>
                </a:solidFill>
              </a:rPr>
              <a:t>06</a:t>
            </a:r>
            <a:endParaRPr lang="ru-RU" sz="15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500" dirty="0">
                <a:solidFill>
                  <a:schemeClr val="tx1"/>
                </a:solidFill>
              </a:rPr>
              <a:t>ГБУ ДО ВО «</a:t>
            </a:r>
            <a:r>
              <a:rPr lang="ru-RU" sz="1500" dirty="0" err="1">
                <a:solidFill>
                  <a:schemeClr val="tx1"/>
                </a:solidFill>
              </a:rPr>
              <a:t>ЦИКДиМ</a:t>
            </a:r>
            <a:r>
              <a:rPr lang="ru-RU" sz="1500" dirty="0">
                <a:solidFill>
                  <a:schemeClr val="tx1"/>
                </a:solidFill>
              </a:rPr>
              <a:t> "</a:t>
            </a:r>
            <a:r>
              <a:rPr lang="ru-RU" sz="1500" dirty="0" err="1">
                <a:solidFill>
                  <a:schemeClr val="tx1"/>
                </a:solidFill>
              </a:rPr>
              <a:t>Кванториум</a:t>
            </a:r>
            <a:r>
              <a:rPr lang="ru-RU" sz="1500" dirty="0">
                <a:solidFill>
                  <a:schemeClr val="tx1"/>
                </a:solidFill>
              </a:rPr>
              <a:t>"»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ru-RU" sz="1500" dirty="0">
                <a:solidFill>
                  <a:schemeClr val="tx1"/>
                </a:solidFill>
              </a:rPr>
              <a:t>МБОУ "Лицей №2"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B79799B-0F94-3E06-ADDB-82DBE5346220}"/>
              </a:ext>
            </a:extLst>
          </p:cNvPr>
          <p:cNvSpPr txBox="1"/>
          <p:nvPr/>
        </p:nvSpPr>
        <p:spPr bwMode="auto">
          <a:xfrm>
            <a:off x="1826727" y="4066709"/>
            <a:ext cx="297726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Кондауров Матвей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B3CDC2-778A-5AAC-1C0F-03C10D7B7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9" b="11579"/>
          <a:stretch/>
        </p:blipFill>
        <p:spPr bwMode="auto">
          <a:xfrm>
            <a:off x="2196828" y="1806376"/>
            <a:ext cx="2237059" cy="22370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" name="Номер слайда 35">
            <a:extLst>
              <a:ext uri="{FF2B5EF4-FFF2-40B4-BE49-F238E27FC236}">
                <a16:creationId xmlns:a16="http://schemas.microsoft.com/office/drawing/2014/main" id="{EBBE2703-1417-EA86-83A5-B1B84A3A4345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3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">
            <a:extLst>
              <a:ext uri="{FF2B5EF4-FFF2-40B4-BE49-F238E27FC236}">
                <a16:creationId xmlns:a16="http://schemas.microsoft.com/office/drawing/2014/main" id="{7353E975-C9BE-24AC-6402-5A815D064724}"/>
              </a:ext>
            </a:extLst>
          </p:cNvPr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" name="Номер слайда 17">
            <a:extLst>
              <a:ext uri="{FF2B5EF4-FFF2-40B4-BE49-F238E27FC236}">
                <a16:creationId xmlns:a16="http://schemas.microsoft.com/office/drawing/2014/main" id="{9483DC85-D7D7-88EE-BFE3-A1466FE24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8FF3F37B-63D3-D013-926A-EA9439D990B8}"/>
              </a:ext>
            </a:extLst>
          </p:cNvPr>
          <p:cNvSpPr txBox="1">
            <a:spLocks/>
          </p:cNvSpPr>
          <p:nvPr/>
        </p:nvSpPr>
        <p:spPr bwMode="auto">
          <a:xfrm>
            <a:off x="533606" y="1602273"/>
            <a:ext cx="10783437" cy="934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Мы — команда из двух человек и хороших друзей из разных городов. Познакомились на профильной образовательной смене, где вместе разрабатывали робототехнический проект, и с тех пор регулярно штурмуем </a:t>
            </a:r>
            <a:r>
              <a:rPr lang="ru-RU" dirty="0" err="1">
                <a:solidFill>
                  <a:schemeClr val="tx1"/>
                </a:solidFill>
              </a:rPr>
              <a:t>соревы</a:t>
            </a:r>
            <a:r>
              <a:rPr lang="ru-RU" dirty="0">
                <a:solidFill>
                  <a:schemeClr val="tx1"/>
                </a:solidFill>
              </a:rPr>
              <a:t>. Нас объединяет страсть к робототехнике, </a:t>
            </a:r>
            <a:r>
              <a:rPr lang="en-GB" dirty="0">
                <a:solidFill>
                  <a:schemeClr val="tx1"/>
                </a:solidFill>
              </a:rPr>
              <a:t>ROS-</a:t>
            </a:r>
            <a:r>
              <a:rPr lang="ru-RU" dirty="0">
                <a:solidFill>
                  <a:schemeClr val="tx1"/>
                </a:solidFill>
              </a:rPr>
              <a:t>стеку и огромная любовь к собакам, особенно мопсам (отсюда и название, хотя на </a:t>
            </a:r>
            <a:r>
              <a:rPr lang="ru-RU" dirty="0" err="1">
                <a:solidFill>
                  <a:schemeClr val="tx1"/>
                </a:solidFill>
              </a:rPr>
              <a:t>аватарке</a:t>
            </a:r>
            <a:r>
              <a:rPr lang="ru-RU" dirty="0">
                <a:solidFill>
                  <a:schemeClr val="tx1"/>
                </a:solidFill>
              </a:rPr>
              <a:t> команды, к сожалению, не мопс).</a:t>
            </a:r>
            <a:endParaRPr lang="ru-RU" dirty="0"/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F501DDE7-DBB2-B6B7-7EA5-C10C6EBF23A9}"/>
              </a:ext>
            </a:extLst>
          </p:cNvPr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43BE9861-669B-F8DF-5C83-45C71E79AF64}"/>
              </a:ext>
            </a:extLst>
          </p:cNvPr>
          <p:cNvSpPr txBox="1"/>
          <p:nvPr/>
        </p:nvSpPr>
        <p:spPr bwMode="auto">
          <a:xfrm>
            <a:off x="533607" y="5139254"/>
            <a:ext cx="10783438" cy="17187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ru-RU" dirty="0">
                <a:solidFill>
                  <a:schemeClr val="tx1"/>
                </a:solidFill>
              </a:rPr>
              <a:t>Инженерный вызов: На горизонте свыше 130 м облако </a:t>
            </a:r>
            <a:r>
              <a:rPr lang="ru-RU" dirty="0" err="1">
                <a:solidFill>
                  <a:schemeClr val="tx1"/>
                </a:solidFill>
              </a:rPr>
              <a:t>лидара</a:t>
            </a:r>
            <a:r>
              <a:rPr lang="ru-RU" dirty="0">
                <a:solidFill>
                  <a:schemeClr val="tx1"/>
                </a:solidFill>
              </a:rPr>
              <a:t> критически разрежается, а скользящий луч перестает видеть рельсы. В поворотах сплайн стремился зацепить стену. Мы «почти» победили это математикой: построили адаптивный 3</a:t>
            </a:r>
            <a:r>
              <a:rPr lang="en-GB" dirty="0">
                <a:solidFill>
                  <a:schemeClr val="tx1"/>
                </a:solidFill>
              </a:rPr>
              <a:t>D-</a:t>
            </a:r>
            <a:r>
              <a:rPr lang="ru-RU" dirty="0">
                <a:solidFill>
                  <a:schemeClr val="tx1"/>
                </a:solidFill>
              </a:rPr>
              <a:t>сплайн </a:t>
            </a:r>
            <a:r>
              <a:rPr lang="ru-RU" dirty="0" err="1">
                <a:solidFill>
                  <a:schemeClr val="tx1"/>
                </a:solidFill>
              </a:rPr>
              <a:t>Френе</a:t>
            </a:r>
            <a:r>
              <a:rPr lang="ru-RU" dirty="0">
                <a:solidFill>
                  <a:schemeClr val="tx1"/>
                </a:solidFill>
              </a:rPr>
              <a:t>, аналитическое поле габарита и </a:t>
            </a:r>
            <a:r>
              <a:rPr lang="ru-RU" dirty="0" err="1">
                <a:solidFill>
                  <a:schemeClr val="tx1"/>
                </a:solidFill>
              </a:rPr>
              <a:t>межкадровый</a:t>
            </a:r>
            <a:r>
              <a:rPr lang="ru-RU" dirty="0">
                <a:solidFill>
                  <a:schemeClr val="tx1"/>
                </a:solidFill>
              </a:rPr>
              <a:t> трекер</a:t>
            </a:r>
          </a:p>
          <a:p>
            <a:pPr>
              <a:lnSpc>
                <a:spcPct val="100000"/>
              </a:lnSpc>
              <a:defRPr/>
            </a:pPr>
            <a:r>
              <a:rPr lang="ru-RU" dirty="0">
                <a:solidFill>
                  <a:schemeClr val="tx1"/>
                </a:solidFill>
              </a:rPr>
              <a:t>Личный вызов: Мы учимся в 11 классе — совмещать подготовку к экзаменам, уроки, распределенную разработку между разными городами и жесткий дедлайн </a:t>
            </a:r>
            <a:r>
              <a:rPr lang="ru-RU" dirty="0" err="1">
                <a:solidFill>
                  <a:schemeClr val="tx1"/>
                </a:solidFill>
              </a:rPr>
              <a:t>хакатона</a:t>
            </a:r>
            <a:r>
              <a:rPr lang="ru-RU" dirty="0">
                <a:solidFill>
                  <a:schemeClr val="tx1"/>
                </a:solidFill>
              </a:rPr>
              <a:t> было </a:t>
            </a:r>
            <a:r>
              <a:rPr lang="ru-RU" dirty="0" err="1">
                <a:solidFill>
                  <a:schemeClr val="tx1"/>
                </a:solidFill>
              </a:rPr>
              <a:t>сложновато</a:t>
            </a:r>
            <a:r>
              <a:rPr lang="ru-RU" dirty="0">
                <a:solidFill>
                  <a:schemeClr val="tx1"/>
                </a:solidFill>
              </a:rPr>
              <a:t>. Справились благодаря четкому разделению задач и бессонным ночам.</a:t>
            </a:r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97F8DAFE-7964-C6BA-B325-8C8206B2D567}"/>
              </a:ext>
            </a:extLst>
          </p:cNvPr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  <a:endParaRPr dirty="0"/>
          </a:p>
        </p:txBody>
      </p:sp>
      <p:sp>
        <p:nvSpPr>
          <p:cNvPr id="21" name="Текст 8">
            <a:extLst>
              <a:ext uri="{FF2B5EF4-FFF2-40B4-BE49-F238E27FC236}">
                <a16:creationId xmlns:a16="http://schemas.microsoft.com/office/drawing/2014/main" id="{13337048-3B08-3675-710A-A4661B0788BF}"/>
              </a:ext>
            </a:extLst>
          </p:cNvPr>
          <p:cNvSpPr txBox="1"/>
          <p:nvPr/>
        </p:nvSpPr>
        <p:spPr bwMode="auto">
          <a:xfrm>
            <a:off x="533606" y="3429000"/>
            <a:ext cx="10783437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Нас сразу зацепила возможность применить свои навыки в </a:t>
            </a:r>
            <a:r>
              <a:rPr lang="en-GB" dirty="0">
                <a:solidFill>
                  <a:schemeClr val="tx1"/>
                </a:solidFill>
              </a:rPr>
              <a:t>ROS 2 </a:t>
            </a:r>
            <a:r>
              <a:rPr lang="ru-RU" dirty="0">
                <a:solidFill>
                  <a:schemeClr val="tx1"/>
                </a:solidFill>
              </a:rPr>
              <a:t>на настоящих данных с промышленного 3</a:t>
            </a:r>
            <a:r>
              <a:rPr lang="en-GB" dirty="0">
                <a:solidFill>
                  <a:schemeClr val="tx1"/>
                </a:solidFill>
              </a:rPr>
              <a:t>D-</a:t>
            </a:r>
            <a:r>
              <a:rPr lang="ru-RU" dirty="0" err="1">
                <a:solidFill>
                  <a:schemeClr val="tx1"/>
                </a:solidFill>
              </a:rPr>
              <a:t>лидара</a:t>
            </a:r>
            <a:r>
              <a:rPr lang="ru-RU" dirty="0">
                <a:solidFill>
                  <a:schemeClr val="tx1"/>
                </a:solidFill>
              </a:rPr>
              <a:t>. Беспилотный транспорт в метро — это не только алгоритмы, но и строгие требования к надежности и безопасности. Нам хотелось спроектировать честное инженерное решение контроля габарита, применимое на реальном поезде, а не учебную симуляцию.</a:t>
            </a:r>
            <a:endParaRPr dirty="0"/>
          </a:p>
        </p:txBody>
      </p:sp>
      <p:sp>
        <p:nvSpPr>
          <p:cNvPr id="22" name="Текст 8">
            <a:extLst>
              <a:ext uri="{FF2B5EF4-FFF2-40B4-BE49-F238E27FC236}">
                <a16:creationId xmlns:a16="http://schemas.microsoft.com/office/drawing/2014/main" id="{2935B6C2-2A35-0DD8-D1F6-654FD8705BB0}"/>
              </a:ext>
            </a:extLst>
          </p:cNvPr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23" name="Прямая соединительная линия 4">
            <a:extLst>
              <a:ext uri="{FF2B5EF4-FFF2-40B4-BE49-F238E27FC236}">
                <a16:creationId xmlns:a16="http://schemas.microsoft.com/office/drawing/2014/main" id="{95E7AE53-14E4-BCF5-4545-923CA9560D0D}"/>
              </a:ext>
            </a:extLst>
          </p:cNvPr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5">
            <a:extLst>
              <a:ext uri="{FF2B5EF4-FFF2-40B4-BE49-F238E27FC236}">
                <a16:creationId xmlns:a16="http://schemas.microsoft.com/office/drawing/2014/main" id="{00C6B85E-94CC-EBEA-B143-30A8ECB11803}"/>
              </a:ext>
            </a:extLst>
          </p:cNvPr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7">
            <a:extLst>
              <a:ext uri="{FF2B5EF4-FFF2-40B4-BE49-F238E27FC236}">
                <a16:creationId xmlns:a16="http://schemas.microsoft.com/office/drawing/2014/main" id="{7EC38A2D-170F-2288-F850-3A06EC8267B0}"/>
              </a:ext>
            </a:extLst>
          </p:cNvPr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Текст 8">
            <a:extLst>
              <a:ext uri="{FF2B5EF4-FFF2-40B4-BE49-F238E27FC236}">
                <a16:creationId xmlns:a16="http://schemas.microsoft.com/office/drawing/2014/main" id="{660C8FA7-B178-78C8-AFE7-78A0B9A393FF}"/>
              </a:ext>
            </a:extLst>
          </p:cNvPr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27" name="Текст 8">
            <a:extLst>
              <a:ext uri="{FF2B5EF4-FFF2-40B4-BE49-F238E27FC236}">
                <a16:creationId xmlns:a16="http://schemas.microsoft.com/office/drawing/2014/main" id="{09BD526B-F652-69FE-2B39-376602992CD1}"/>
              </a:ext>
            </a:extLst>
          </p:cNvPr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8C7B18D8-24D2-14F1-A603-7E97F5F0372E}"/>
              </a:ext>
            </a:extLst>
          </p:cNvPr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  <p:sp>
        <p:nvSpPr>
          <p:cNvPr id="29" name="Заголовок 6">
            <a:extLst>
              <a:ext uri="{FF2B5EF4-FFF2-40B4-BE49-F238E27FC236}">
                <a16:creationId xmlns:a16="http://schemas.microsoft.com/office/drawing/2014/main" id="{8E0B97D5-2D99-B35E-713E-6642B4341F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команды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endParaRPr lang="ru-RU" sz="2000" b="1">
              <a:solidFill>
                <a:srgbClr val="FFFFFF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2426539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Детерминированный геометрический конвейер: </a:t>
            </a:r>
            <a:r>
              <a:rPr lang="ru-RU" sz="1400" dirty="0" err="1">
                <a:solidFill>
                  <a:schemeClr val="tx1"/>
                </a:solidFill>
              </a:rPr>
              <a:t>C</a:t>
            </a:r>
            <a:r>
              <a:rPr lang="ru-RU" sz="1400" dirty="0">
                <a:solidFill>
                  <a:schemeClr val="tx1"/>
                </a:solidFill>
              </a:rPr>
              <a:t>++17, ROS 2 </a:t>
            </a:r>
            <a:r>
              <a:rPr lang="ru-RU" sz="1400" dirty="0" err="1">
                <a:solidFill>
                  <a:schemeClr val="tx1"/>
                </a:solidFill>
              </a:rPr>
              <a:t>Humble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 err="1">
                <a:solidFill>
                  <a:schemeClr val="tx1"/>
                </a:solidFill>
              </a:rPr>
              <a:t>Docker</a:t>
            </a:r>
            <a:endParaRPr lang="ru-RU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Ось пути по рельсам и стенам тоннеля → базис </a:t>
            </a:r>
            <a:r>
              <a:rPr lang="ru-RU" sz="1400" dirty="0" err="1">
                <a:solidFill>
                  <a:schemeClr val="tx1"/>
                </a:solidFill>
              </a:rPr>
              <a:t>Френе</a:t>
            </a:r>
            <a:r>
              <a:rPr lang="ru-RU" sz="1400" dirty="0">
                <a:solidFill>
                  <a:schemeClr val="tx1"/>
                </a:solidFill>
              </a:rPr>
              <a:t> (</a:t>
            </a:r>
            <a:r>
              <a:rPr lang="ru-RU" sz="1400" dirty="0" err="1">
                <a:solidFill>
                  <a:schemeClr val="tx1"/>
                </a:solidFill>
              </a:rPr>
              <a:t>s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 err="1">
                <a:solidFill>
                  <a:schemeClr val="tx1"/>
                </a:solidFill>
              </a:rPr>
              <a:t>u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 err="1">
                <a:solidFill>
                  <a:schemeClr val="tx1"/>
                </a:solidFill>
              </a:rPr>
              <a:t>v</a:t>
            </a:r>
            <a:r>
              <a:rPr lang="ru-RU" sz="1400" dirty="0">
                <a:solidFill>
                  <a:schemeClr val="tx1"/>
                </a:solidFill>
              </a:rPr>
              <a:t>) на 150 м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Габарит «М» ГОСТ 9238 как аналитическое поле расстояний (SDF)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Три специализированных детектора + </a:t>
            </a:r>
            <a:r>
              <a:rPr lang="ru-RU" sz="1400" dirty="0" err="1">
                <a:solidFill>
                  <a:schemeClr val="tx1"/>
                </a:solidFill>
              </a:rPr>
              <a:t>межкадровый</a:t>
            </a:r>
            <a:r>
              <a:rPr lang="ru-RU" sz="1400" dirty="0">
                <a:solidFill>
                  <a:schemeClr val="tx1"/>
                </a:solidFill>
              </a:rPr>
              <a:t> трекер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Скорость поезда — по самому облаку; тормозной путь и TTC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21–25 мс на кадр из 307 200 точек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2426539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Не нужна разметка аварийных ситуаций — работает с первого проезда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Объяснимые решения: каждое торможение — точка внутри габарита на дистанции </a:t>
            </a:r>
            <a:r>
              <a:rPr lang="ru-RU" sz="1400" err="1">
                <a:solidFill>
                  <a:schemeClr val="tx1"/>
                </a:solidFill>
              </a:rPr>
              <a:t>D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Нормативная основа: габарит «М», колея 1520 мм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Стандартные интерфейсы ROS 2 → интеграция с АРС и визуализацией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Запуск инженером: </a:t>
            </a:r>
            <a:r>
              <a:rPr lang="ru-RU" sz="1400" err="1">
                <a:solidFill>
                  <a:schemeClr val="tx1"/>
                </a:solidFill>
              </a:rPr>
              <a:t>docker</a:t>
            </a:r>
            <a:r>
              <a:rPr lang="ru-RU" sz="1400">
                <a:solidFill>
                  <a:schemeClr val="tx1"/>
                </a:solidFill>
              </a:rPr>
              <a:t> </a:t>
            </a:r>
            <a:r>
              <a:rPr lang="ru-RU" sz="1400" err="1">
                <a:solidFill>
                  <a:schemeClr val="tx1"/>
                </a:solidFill>
              </a:rPr>
              <a:t>build</a:t>
            </a:r>
            <a:r>
              <a:rPr lang="ru-RU" sz="1400">
                <a:solidFill>
                  <a:schemeClr val="tx1"/>
                </a:solidFill>
              </a:rPr>
              <a:t> → </a:t>
            </a:r>
            <a:r>
              <a:rPr lang="ru-RU" sz="1400" err="1">
                <a:solidFill>
                  <a:schemeClr val="tx1"/>
                </a:solidFill>
              </a:rPr>
              <a:t>run</a:t>
            </a:r>
            <a:r>
              <a:rPr lang="ru-RU" sz="1400">
                <a:solidFill>
                  <a:schemeClr val="tx1"/>
                </a:solidFill>
              </a:rPr>
              <a:t> ros2 </a:t>
            </a:r>
            <a:r>
              <a:rPr lang="ru-RU" sz="1400" err="1">
                <a:solidFill>
                  <a:schemeClr val="tx1"/>
                </a:solidFill>
              </a:rPr>
              <a:t>bag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982195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982195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Ценность для метрополитена</a:t>
            </a:r>
          </a:p>
        </p:txBody>
      </p:sp>
      <p:sp>
        <p:nvSpPr>
          <p:cNvPr id="2" name="Номер слайда 35">
            <a:extLst>
              <a:ext uri="{FF2B5EF4-FFF2-40B4-BE49-F238E27FC236}">
                <a16:creationId xmlns:a16="http://schemas.microsoft.com/office/drawing/2014/main" id="{7C55CE7F-A71D-C63F-BF55-2F68BF1E44BC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5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4027931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ПОСТАНОВКА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325880"/>
            <a:ext cx="4480560" cy="1463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</a:rPr>
              <a:t>«Есть ли на пути беспилотного поезда что-то, чего там быть не должно?»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71800"/>
            <a:ext cx="4480560" cy="9144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 err="1">
                <a:solidFill>
                  <a:schemeClr val="bg1"/>
                </a:solidFill>
              </a:rPr>
              <a:t>Наш</a:t>
            </a:r>
            <a:r>
              <a:rPr sz="2000" b="1" i="0">
                <a:solidFill>
                  <a:schemeClr val="bg1"/>
                </a:solidFill>
              </a:rPr>
              <a:t> </a:t>
            </a:r>
            <a:r>
              <a:rPr sz="2000" b="1" i="0" err="1">
                <a:solidFill>
                  <a:schemeClr val="bg1"/>
                </a:solidFill>
              </a:rPr>
              <a:t>ответ</a:t>
            </a:r>
            <a:r>
              <a:rPr sz="2000" b="1" i="0">
                <a:solidFill>
                  <a:schemeClr val="bg1"/>
                </a:solidFill>
              </a:rPr>
              <a:t>: </a:t>
            </a:r>
            <a:r>
              <a:rPr sz="1400" b="0" i="0" err="1">
                <a:solidFill>
                  <a:schemeClr val="bg1"/>
                </a:solidFill>
              </a:rPr>
              <a:t>проверяем</a:t>
            </a:r>
            <a:r>
              <a:rPr sz="1400" b="0" i="0">
                <a:solidFill>
                  <a:schemeClr val="bg1"/>
                </a:solidFill>
              </a:rPr>
              <a:t>, </a:t>
            </a:r>
            <a:r>
              <a:rPr sz="1400" b="1" i="0" err="1">
                <a:solidFill>
                  <a:schemeClr val="bg1"/>
                </a:solidFill>
              </a:rPr>
              <a:t>нарушен</a:t>
            </a:r>
            <a:r>
              <a:rPr sz="1400" b="1" i="0">
                <a:solidFill>
                  <a:schemeClr val="bg1"/>
                </a:solidFill>
              </a:rPr>
              <a:t> </a:t>
            </a:r>
            <a:r>
              <a:rPr sz="1400" b="1" i="0" err="1">
                <a:solidFill>
                  <a:schemeClr val="bg1"/>
                </a:solidFill>
              </a:rPr>
              <a:t>ли</a:t>
            </a:r>
            <a:r>
              <a:rPr sz="1400" b="1" i="0">
                <a:solidFill>
                  <a:schemeClr val="bg1"/>
                </a:solidFill>
              </a:rPr>
              <a:t> </a:t>
            </a:r>
            <a:r>
              <a:rPr sz="1400" b="1" i="0" err="1">
                <a:solidFill>
                  <a:schemeClr val="bg1"/>
                </a:solidFill>
              </a:rPr>
              <a:t>кинематический</a:t>
            </a:r>
            <a:r>
              <a:rPr sz="1400" b="1" i="0">
                <a:solidFill>
                  <a:schemeClr val="bg1"/>
                </a:solidFill>
              </a:rPr>
              <a:t> </a:t>
            </a:r>
            <a:r>
              <a:rPr sz="1400" b="1" i="0" err="1">
                <a:solidFill>
                  <a:schemeClr val="bg1"/>
                </a:solidFill>
              </a:rPr>
              <a:t>габарит</a:t>
            </a:r>
            <a:r>
              <a:rPr sz="1400" b="1" i="0">
                <a:solidFill>
                  <a:schemeClr val="bg1"/>
                </a:solidFill>
              </a:rPr>
              <a:t> «</a:t>
            </a:r>
            <a:r>
              <a:rPr sz="1400" b="1" i="0" err="1">
                <a:solidFill>
                  <a:schemeClr val="bg1"/>
                </a:solidFill>
              </a:rPr>
              <a:t>М</a:t>
            </a:r>
            <a:r>
              <a:rPr sz="1400" b="1" i="0">
                <a:solidFill>
                  <a:schemeClr val="bg1"/>
                </a:solidFill>
              </a:rPr>
              <a:t>»</a:t>
            </a:r>
            <a:r>
              <a:rPr sz="1400" b="0" i="0">
                <a:solidFill>
                  <a:schemeClr val="bg1"/>
                </a:solidFill>
              </a:rPr>
              <a:t> </a:t>
            </a:r>
            <a:r>
              <a:rPr sz="1400" b="0" i="0" err="1">
                <a:solidFill>
                  <a:schemeClr val="bg1"/>
                </a:solidFill>
              </a:rPr>
              <a:t>в</a:t>
            </a:r>
            <a:r>
              <a:rPr sz="1400" b="0" i="0">
                <a:solidFill>
                  <a:schemeClr val="bg1"/>
                </a:solidFill>
              </a:rPr>
              <a:t> </a:t>
            </a:r>
            <a:r>
              <a:rPr sz="1400" b="0" i="0" err="1">
                <a:solidFill>
                  <a:schemeClr val="bg1"/>
                </a:solidFill>
              </a:rPr>
              <a:t>сопутствующем</a:t>
            </a:r>
            <a:r>
              <a:rPr sz="1400" b="0" i="0">
                <a:solidFill>
                  <a:schemeClr val="bg1"/>
                </a:solidFill>
              </a:rPr>
              <a:t> </a:t>
            </a:r>
            <a:r>
              <a:rPr sz="1400" b="0" i="0" err="1">
                <a:solidFill>
                  <a:schemeClr val="bg1"/>
                </a:solidFill>
              </a:rPr>
              <a:t>базисе</a:t>
            </a:r>
            <a:r>
              <a:rPr sz="1400" b="0" i="0">
                <a:solidFill>
                  <a:schemeClr val="bg1"/>
                </a:solidFill>
              </a:rPr>
              <a:t> </a:t>
            </a:r>
            <a:r>
              <a:rPr sz="1400" b="0" i="0" err="1">
                <a:solidFill>
                  <a:schemeClr val="bg1"/>
                </a:solidFill>
              </a:rPr>
              <a:t>пути</a:t>
            </a:r>
            <a:endParaRPr sz="1400" b="0" i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4297680"/>
            <a:ext cx="4480560" cy="20116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marL="190500" indent="-190500" algn="l">
              <a:spcAft>
                <a:spcPts val="600"/>
              </a:spcAft>
              <a:buClr>
                <a:srgbClr val="FFD6E4"/>
              </a:buClr>
              <a:buSzPct val="100000"/>
              <a:buFont typeface="Arial"/>
              <a:buChar char="•"/>
            </a:pPr>
            <a:r>
              <a:rPr sz="1400" b="1" i="0" err="1">
                <a:solidFill>
                  <a:srgbClr val="FFFFFF"/>
                </a:solidFill>
              </a:rPr>
              <a:t>Вход</a:t>
            </a:r>
            <a:r>
              <a:rPr sz="1400" b="1" i="0">
                <a:solidFill>
                  <a:srgbClr val="FFFFFF"/>
                </a:solidFill>
              </a:rPr>
              <a:t>: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поток</a:t>
            </a:r>
            <a:r>
              <a:rPr sz="1400" b="0" i="0">
                <a:solidFill>
                  <a:srgbClr val="FFFFFF"/>
                </a:solidFill>
              </a:rPr>
              <a:t> PointCloud2 3D-лидара, 10 </a:t>
            </a:r>
            <a:r>
              <a:rPr sz="1400" b="0" i="0" err="1">
                <a:solidFill>
                  <a:srgbClr val="FFFFFF"/>
                </a:solidFill>
              </a:rPr>
              <a:t>Гц</a:t>
            </a:r>
            <a:endParaRPr sz="1400" b="0" i="0">
              <a:solidFill>
                <a:srgbClr val="FFFFFF"/>
              </a:solidFill>
            </a:endParaRPr>
          </a:p>
          <a:p>
            <a:pPr marL="190500" indent="-190500" algn="l">
              <a:spcAft>
                <a:spcPts val="600"/>
              </a:spcAft>
              <a:buClr>
                <a:srgbClr val="FFD6E4"/>
              </a:buClr>
              <a:buSzPct val="100000"/>
              <a:buFont typeface="Arial"/>
              <a:buChar char="•"/>
            </a:pPr>
            <a:r>
              <a:rPr sz="1400" b="1" i="0" err="1">
                <a:solidFill>
                  <a:srgbClr val="FFFFFF"/>
                </a:solidFill>
              </a:rPr>
              <a:t>Выход</a:t>
            </a:r>
            <a:r>
              <a:rPr sz="1400" b="1" i="0">
                <a:solidFill>
                  <a:srgbClr val="FFFFFF"/>
                </a:solidFill>
              </a:rPr>
              <a:t>: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есть</a:t>
            </a:r>
            <a:r>
              <a:rPr sz="1400" b="0" i="0">
                <a:solidFill>
                  <a:srgbClr val="FFFFFF"/>
                </a:solidFill>
              </a:rPr>
              <a:t> / </a:t>
            </a:r>
            <a:r>
              <a:rPr sz="1400" b="0" i="0" err="1">
                <a:solidFill>
                  <a:srgbClr val="FFFFFF"/>
                </a:solidFill>
              </a:rPr>
              <a:t>нет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препятствия</a:t>
            </a:r>
            <a:r>
              <a:rPr sz="1400" b="0" i="0">
                <a:solidFill>
                  <a:srgbClr val="FFFFFF"/>
                </a:solidFill>
              </a:rPr>
              <a:t>, </a:t>
            </a:r>
            <a:r>
              <a:rPr sz="1400" b="0" i="0" err="1">
                <a:solidFill>
                  <a:srgbClr val="FFFFFF"/>
                </a:solidFill>
              </a:rPr>
              <a:t>дистанция</a:t>
            </a:r>
            <a:r>
              <a:rPr sz="1400" b="0" i="0">
                <a:solidFill>
                  <a:srgbClr val="FFFFFF"/>
                </a:solidFill>
              </a:rPr>
              <a:t>, </a:t>
            </a:r>
            <a:r>
              <a:rPr sz="1400" b="0" i="0" err="1">
                <a:solidFill>
                  <a:srgbClr val="FFFFFF"/>
                </a:solidFill>
              </a:rPr>
              <a:t>размеры</a:t>
            </a:r>
            <a:r>
              <a:rPr sz="1400" b="0" i="0">
                <a:solidFill>
                  <a:srgbClr val="FFFFFF"/>
                </a:solidFill>
              </a:rPr>
              <a:t>, </a:t>
            </a:r>
            <a:r>
              <a:rPr sz="1400" b="0" i="0" err="1">
                <a:solidFill>
                  <a:srgbClr val="FFFFFF"/>
                </a:solidFill>
              </a:rPr>
              <a:t>уровень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угрозы</a:t>
            </a:r>
            <a:r>
              <a:rPr sz="1400" b="0" i="0">
                <a:solidFill>
                  <a:srgbClr val="FFFFFF"/>
                </a:solidFill>
              </a:rPr>
              <a:t>, TTC</a:t>
            </a:r>
          </a:p>
          <a:p>
            <a:pPr marL="190500" indent="-190500" algn="l">
              <a:spcAft>
                <a:spcPts val="600"/>
              </a:spcAft>
              <a:buClr>
                <a:srgbClr val="FFD6E4"/>
              </a:buClr>
              <a:buSzPct val="100000"/>
              <a:buFont typeface="Arial"/>
              <a:buChar char="•"/>
            </a:pPr>
            <a:r>
              <a:rPr sz="1400" b="1" i="0" err="1">
                <a:solidFill>
                  <a:srgbClr val="FFFFFF"/>
                </a:solidFill>
              </a:rPr>
              <a:t>Без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обучающих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данных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и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одометрии</a:t>
            </a:r>
            <a:endParaRPr sz="1400" b="0" i="0">
              <a:solidFill>
                <a:srgbClr val="FFFFFF"/>
              </a:solidFill>
            </a:endParaRP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188720"/>
            <a:ext cx="6492240" cy="4335279"/>
          </a:xfrm>
          <a:prstGeom prst="roundRect">
            <a:avLst>
              <a:gd name="adj" fmla="val 3374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5257800" y="5596128"/>
            <a:ext cx="6492240" cy="71323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200" b="0" i="0" err="1">
                <a:solidFill>
                  <a:schemeClr val="bg1"/>
                </a:solidFill>
              </a:rPr>
              <a:t>Синтетическая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сцена</a:t>
            </a:r>
            <a:r>
              <a:rPr sz="1200" b="0" i="0">
                <a:solidFill>
                  <a:schemeClr val="bg1"/>
                </a:solidFill>
              </a:rPr>
              <a:t> (</a:t>
            </a:r>
            <a:r>
              <a:rPr sz="1200" b="0" i="0" err="1">
                <a:solidFill>
                  <a:schemeClr val="bg1"/>
                </a:solidFill>
              </a:rPr>
              <a:t>модель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лучей</a:t>
            </a:r>
            <a:r>
              <a:rPr sz="1200" b="0" i="0">
                <a:solidFill>
                  <a:schemeClr val="bg1"/>
                </a:solidFill>
              </a:rPr>
              <a:t> 128-канального </a:t>
            </a:r>
            <a:r>
              <a:rPr sz="1200" b="0" i="0" err="1">
                <a:solidFill>
                  <a:schemeClr val="bg1"/>
                </a:solidFill>
              </a:rPr>
              <a:t>лидара</a:t>
            </a:r>
            <a:r>
              <a:rPr sz="1200" b="0" i="0">
                <a:solidFill>
                  <a:schemeClr val="bg1"/>
                </a:solidFill>
              </a:rPr>
              <a:t>), </a:t>
            </a:r>
            <a:r>
              <a:rPr sz="1200" b="0" i="0" err="1">
                <a:solidFill>
                  <a:schemeClr val="bg1"/>
                </a:solidFill>
              </a:rPr>
              <a:t>обработанная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портом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алгоритма</a:t>
            </a:r>
            <a:r>
              <a:rPr sz="1200" b="0" i="0">
                <a:solidFill>
                  <a:schemeClr val="bg1"/>
                </a:solidFill>
              </a:rPr>
              <a:t>: </a:t>
            </a:r>
            <a:r>
              <a:rPr sz="1200" b="0" i="0" err="1">
                <a:solidFill>
                  <a:schemeClr val="bg1"/>
                </a:solidFill>
              </a:rPr>
              <a:t>габарит</a:t>
            </a:r>
            <a:r>
              <a:rPr sz="1200" b="0" i="0">
                <a:solidFill>
                  <a:schemeClr val="bg1"/>
                </a:solidFill>
              </a:rPr>
              <a:t> «</a:t>
            </a:r>
            <a:r>
              <a:rPr sz="1200" b="0" i="0" err="1">
                <a:solidFill>
                  <a:schemeClr val="bg1"/>
                </a:solidFill>
              </a:rPr>
              <a:t>М</a:t>
            </a:r>
            <a:r>
              <a:rPr sz="1200" b="0" i="0">
                <a:solidFill>
                  <a:schemeClr val="bg1"/>
                </a:solidFill>
              </a:rPr>
              <a:t>» (</a:t>
            </a:r>
            <a:r>
              <a:rPr sz="1200" b="0" i="0" err="1">
                <a:solidFill>
                  <a:schemeClr val="bg1"/>
                </a:solidFill>
              </a:rPr>
              <a:t>бирюзовый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каркас</a:t>
            </a:r>
            <a:r>
              <a:rPr sz="1200" b="0" i="0">
                <a:solidFill>
                  <a:schemeClr val="bg1"/>
                </a:solidFill>
              </a:rPr>
              <a:t>), </a:t>
            </a:r>
            <a:r>
              <a:rPr sz="1200" b="0" i="0" err="1">
                <a:solidFill>
                  <a:schemeClr val="bg1"/>
                </a:solidFill>
              </a:rPr>
              <a:t>ось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пути</a:t>
            </a:r>
            <a:r>
              <a:rPr sz="1200" b="0" i="0">
                <a:solidFill>
                  <a:schemeClr val="bg1"/>
                </a:solidFill>
              </a:rPr>
              <a:t>, 3D-боксы </a:t>
            </a:r>
            <a:r>
              <a:rPr sz="1200" b="0" i="0" err="1">
                <a:solidFill>
                  <a:schemeClr val="bg1"/>
                </a:solidFill>
              </a:rPr>
              <a:t>препятствий</a:t>
            </a:r>
            <a:r>
              <a:rPr sz="1200" b="0" i="0">
                <a:solidFill>
                  <a:schemeClr val="bg1"/>
                </a:solidFill>
              </a:rPr>
              <a:t>. </a:t>
            </a:r>
            <a:r>
              <a:rPr sz="1200" b="0" i="0" err="1">
                <a:solidFill>
                  <a:schemeClr val="bg1"/>
                </a:solidFill>
              </a:rPr>
              <a:t>Свод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скрыт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для</a:t>
            </a:r>
            <a:r>
              <a:rPr sz="1200" b="0" i="0">
                <a:solidFill>
                  <a:schemeClr val="bg1"/>
                </a:solidFill>
              </a:rPr>
              <a:t> </a:t>
            </a:r>
            <a:r>
              <a:rPr sz="1200" b="0" i="0" err="1">
                <a:solidFill>
                  <a:schemeClr val="bg1"/>
                </a:solidFill>
              </a:rPr>
              <a:t>наглядности</a:t>
            </a:r>
            <a:r>
              <a:rPr sz="1200" b="0" i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32A17844-305F-317B-FA59-B658B0DE07E9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6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6448439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ПОЧЕМУ ГЕОМЕТРИЯ, А НЕ НЕЙРОСЕТЬ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325880"/>
            <a:ext cx="3611880" cy="324612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" y="1572768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12264"/>
            <a:ext cx="310896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 err="1">
                <a:solidFill>
                  <a:srgbClr val="520978"/>
                </a:solidFill>
              </a:rPr>
              <a:t>Нет</a:t>
            </a:r>
            <a:r>
              <a:rPr sz="2000" b="1" i="0">
                <a:solidFill>
                  <a:srgbClr val="520978"/>
                </a:solidFill>
              </a:rPr>
              <a:t> </a:t>
            </a:r>
            <a:r>
              <a:rPr sz="2000" b="1" i="0" err="1">
                <a:solidFill>
                  <a:srgbClr val="520978"/>
                </a:solidFill>
              </a:rPr>
              <a:t>данных</a:t>
            </a:r>
            <a:r>
              <a:rPr sz="2000" b="1" i="0">
                <a:solidFill>
                  <a:srgbClr val="520978"/>
                </a:solidFill>
              </a:rPr>
              <a:t> </a:t>
            </a:r>
            <a:r>
              <a:rPr sz="2000" b="1" i="0" err="1">
                <a:solidFill>
                  <a:srgbClr val="520978"/>
                </a:solidFill>
              </a:rPr>
              <a:t>для</a:t>
            </a:r>
            <a:r>
              <a:rPr sz="2000" b="1" i="0">
                <a:solidFill>
                  <a:srgbClr val="520978"/>
                </a:solidFill>
              </a:rPr>
              <a:t> </a:t>
            </a:r>
            <a:r>
              <a:rPr sz="2000" b="1" i="0" err="1">
                <a:solidFill>
                  <a:srgbClr val="520978"/>
                </a:solidFill>
              </a:rPr>
              <a:t>обучения</a:t>
            </a:r>
            <a:endParaRPr sz="2000" b="1" i="0">
              <a:solidFill>
                <a:srgbClr val="52097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3108960" cy="1691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1C1D22"/>
                </a:solidFill>
              </a:rPr>
              <a:t>99.9 % </a:t>
            </a:r>
            <a:r>
              <a:rPr sz="1200" b="0" i="0" err="1">
                <a:solidFill>
                  <a:srgbClr val="1C1D22"/>
                </a:solidFill>
              </a:rPr>
              <a:t>времени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тоннель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перед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поездом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пуст</a:t>
            </a:r>
            <a:r>
              <a:rPr sz="1200" b="0" i="0">
                <a:solidFill>
                  <a:srgbClr val="1C1D22"/>
                </a:solidFill>
              </a:rPr>
              <a:t>. </a:t>
            </a:r>
            <a:r>
              <a:rPr sz="1200" b="0" i="0" err="1">
                <a:solidFill>
                  <a:srgbClr val="1C1D22"/>
                </a:solidFill>
              </a:rPr>
              <a:t>Собрать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датасет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со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всеми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аномалиями</a:t>
            </a:r>
            <a:r>
              <a:rPr sz="1200" b="0" i="0">
                <a:solidFill>
                  <a:srgbClr val="1C1D22"/>
                </a:solidFill>
              </a:rPr>
              <a:t> — </a:t>
            </a:r>
            <a:r>
              <a:rPr sz="1200" b="0" i="0" err="1">
                <a:solidFill>
                  <a:srgbClr val="1C1D22"/>
                </a:solidFill>
              </a:rPr>
              <a:t>упавшие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леса</a:t>
            </a:r>
            <a:r>
              <a:rPr sz="1200" b="0" i="0">
                <a:solidFill>
                  <a:srgbClr val="1C1D22"/>
                </a:solidFill>
              </a:rPr>
              <a:t>, </a:t>
            </a:r>
            <a:r>
              <a:rPr sz="1200" b="0" i="0" err="1">
                <a:solidFill>
                  <a:srgbClr val="1C1D22"/>
                </a:solidFill>
              </a:rPr>
              <a:t>сорванные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кабели</a:t>
            </a:r>
            <a:r>
              <a:rPr sz="1200" b="0" i="0">
                <a:solidFill>
                  <a:srgbClr val="1C1D22"/>
                </a:solidFill>
              </a:rPr>
              <a:t>, </a:t>
            </a:r>
            <a:r>
              <a:rPr sz="1200" b="0" i="0" err="1">
                <a:solidFill>
                  <a:srgbClr val="1C1D22"/>
                </a:solidFill>
              </a:rPr>
              <a:t>тележки</a:t>
            </a:r>
            <a:r>
              <a:rPr sz="1200" b="0" i="0">
                <a:solidFill>
                  <a:srgbClr val="1C1D22"/>
                </a:solidFill>
              </a:rPr>
              <a:t>, </a:t>
            </a:r>
            <a:r>
              <a:rPr sz="1200" b="0" i="0" err="1">
                <a:solidFill>
                  <a:srgbClr val="1C1D22"/>
                </a:solidFill>
              </a:rPr>
              <a:t>посторонние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предметы</a:t>
            </a:r>
            <a:r>
              <a:rPr sz="1200" b="0" i="0">
                <a:solidFill>
                  <a:srgbClr val="1C1D22"/>
                </a:solidFill>
              </a:rPr>
              <a:t> — </a:t>
            </a:r>
            <a:r>
              <a:rPr sz="1200" b="0" i="0" err="1">
                <a:solidFill>
                  <a:srgbClr val="1C1D22"/>
                </a:solidFill>
              </a:rPr>
              <a:t>невозможно</a:t>
            </a:r>
            <a:r>
              <a:rPr sz="1200" b="0" i="0">
                <a:solidFill>
                  <a:srgbClr val="1C1D22"/>
                </a:solidFill>
              </a:rPr>
              <a:t>: </a:t>
            </a:r>
            <a:r>
              <a:rPr sz="1200" b="0" i="0" err="1">
                <a:solidFill>
                  <a:srgbClr val="1C1D22"/>
                </a:solidFill>
              </a:rPr>
              <a:t>разметки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реальных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препятствий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не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существует</a:t>
            </a:r>
            <a:r>
              <a:rPr sz="1200" b="0" i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611880" cy="324612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4526280" y="1572768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12264"/>
            <a:ext cx="310896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 err="1">
                <a:solidFill>
                  <a:srgbClr val="520978"/>
                </a:solidFill>
              </a:rPr>
              <a:t>Инфраструктура</a:t>
            </a:r>
            <a:r>
              <a:rPr sz="2000" b="1" i="0">
                <a:solidFill>
                  <a:srgbClr val="520978"/>
                </a:solidFill>
              </a:rPr>
              <a:t> </a:t>
            </a:r>
            <a:r>
              <a:rPr sz="2000" b="1" i="0" err="1">
                <a:solidFill>
                  <a:srgbClr val="520978"/>
                </a:solidFill>
              </a:rPr>
              <a:t>вплотную</a:t>
            </a:r>
            <a:r>
              <a:rPr sz="2000" b="1" i="0">
                <a:solidFill>
                  <a:srgbClr val="520978"/>
                </a:solidFill>
              </a:rPr>
              <a:t> </a:t>
            </a:r>
            <a:r>
              <a:rPr sz="2000" b="1" i="0" err="1">
                <a:solidFill>
                  <a:srgbClr val="520978"/>
                </a:solidFill>
              </a:rPr>
              <a:t>к</a:t>
            </a:r>
            <a:r>
              <a:rPr sz="2000" b="1" i="0">
                <a:solidFill>
                  <a:srgbClr val="520978"/>
                </a:solidFill>
              </a:rPr>
              <a:t> </a:t>
            </a:r>
            <a:r>
              <a:rPr sz="2000" b="1" i="0" err="1">
                <a:solidFill>
                  <a:srgbClr val="520978"/>
                </a:solidFill>
              </a:rPr>
              <a:t>габариту</a:t>
            </a:r>
            <a:endParaRPr sz="2000" b="1" i="0">
              <a:solidFill>
                <a:srgbClr val="52097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26280" y="2834640"/>
            <a:ext cx="3108960" cy="1691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 err="1">
                <a:solidFill>
                  <a:srgbClr val="1C1D22"/>
                </a:solidFill>
              </a:rPr>
              <a:t>Кромка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платформы</a:t>
            </a:r>
            <a:r>
              <a:rPr sz="1200" b="0" i="0">
                <a:solidFill>
                  <a:srgbClr val="1C1D22"/>
                </a:solidFill>
              </a:rPr>
              <a:t> — </a:t>
            </a:r>
            <a:r>
              <a:rPr sz="1200" b="0" i="0" err="1">
                <a:solidFill>
                  <a:srgbClr val="1C1D22"/>
                </a:solidFill>
              </a:rPr>
              <a:t>в</a:t>
            </a:r>
            <a:r>
              <a:rPr sz="1200" b="0" i="0">
                <a:solidFill>
                  <a:srgbClr val="1C1D22"/>
                </a:solidFill>
              </a:rPr>
              <a:t> 80–120 </a:t>
            </a:r>
            <a:r>
              <a:rPr sz="1200" b="0" i="0" err="1">
                <a:solidFill>
                  <a:srgbClr val="1C1D22"/>
                </a:solidFill>
              </a:rPr>
              <a:t>мм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от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кузова</a:t>
            </a:r>
            <a:r>
              <a:rPr sz="1200" b="0" i="0">
                <a:solidFill>
                  <a:srgbClr val="1C1D22"/>
                </a:solidFill>
              </a:rPr>
              <a:t>, </a:t>
            </a:r>
            <a:r>
              <a:rPr sz="1200" b="0" i="0" err="1">
                <a:solidFill>
                  <a:srgbClr val="1C1D22"/>
                </a:solidFill>
              </a:rPr>
              <a:t>контактный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рельс</a:t>
            </a:r>
            <a:r>
              <a:rPr sz="1200" b="0" i="0">
                <a:solidFill>
                  <a:srgbClr val="1C1D22"/>
                </a:solidFill>
              </a:rPr>
              <a:t> — 160 </a:t>
            </a:r>
            <a:r>
              <a:rPr sz="1200" b="0" i="0" err="1">
                <a:solidFill>
                  <a:srgbClr val="1C1D22"/>
                </a:solidFill>
              </a:rPr>
              <a:t>мм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над</a:t>
            </a:r>
            <a:r>
              <a:rPr sz="1200" b="0" i="0">
                <a:solidFill>
                  <a:srgbClr val="1C1D22"/>
                </a:solidFill>
              </a:rPr>
              <a:t> УГР, </a:t>
            </a:r>
            <a:r>
              <a:rPr sz="1200" b="0" i="0" err="1">
                <a:solidFill>
                  <a:srgbClr val="1C1D22"/>
                </a:solidFill>
              </a:rPr>
              <a:t>крестовины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стрелок</a:t>
            </a:r>
            <a:r>
              <a:rPr sz="1200" b="0" i="0">
                <a:solidFill>
                  <a:srgbClr val="1C1D22"/>
                </a:solidFill>
              </a:rPr>
              <a:t>, </a:t>
            </a:r>
            <a:r>
              <a:rPr sz="1200" b="0" i="0" err="1">
                <a:solidFill>
                  <a:srgbClr val="1C1D22"/>
                </a:solidFill>
              </a:rPr>
              <a:t>гермозатворы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с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зазором</a:t>
            </a:r>
            <a:r>
              <a:rPr sz="1200" b="0" i="0">
                <a:solidFill>
                  <a:srgbClr val="1C1D22"/>
                </a:solidFill>
              </a:rPr>
              <a:t> 5–10 </a:t>
            </a:r>
            <a:r>
              <a:rPr sz="1200" b="0" i="0" err="1">
                <a:solidFill>
                  <a:srgbClr val="1C1D22"/>
                </a:solidFill>
              </a:rPr>
              <a:t>см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в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кривых</a:t>
            </a:r>
            <a:r>
              <a:rPr sz="1200" b="0" i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611880" cy="324612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66760" y="1572768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12264"/>
            <a:ext cx="310896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 err="1">
                <a:solidFill>
                  <a:srgbClr val="520978"/>
                </a:solidFill>
              </a:rPr>
              <a:t>Цена</a:t>
            </a:r>
            <a:r>
              <a:rPr sz="2000" b="1" i="0">
                <a:solidFill>
                  <a:srgbClr val="520978"/>
                </a:solidFill>
              </a:rPr>
              <a:t> </a:t>
            </a:r>
            <a:r>
              <a:rPr sz="2000" b="1" i="0" err="1">
                <a:solidFill>
                  <a:srgbClr val="520978"/>
                </a:solidFill>
              </a:rPr>
              <a:t>ошибки</a:t>
            </a:r>
            <a:endParaRPr sz="2000" b="1" i="0">
              <a:solidFill>
                <a:srgbClr val="52097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760" y="2834640"/>
            <a:ext cx="3108960" cy="1691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 err="1">
                <a:solidFill>
                  <a:srgbClr val="1C1D22"/>
                </a:solidFill>
              </a:rPr>
              <a:t>Классификатор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может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пропустить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нестандартный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объект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или</a:t>
            </a:r>
            <a:r>
              <a:rPr sz="1200" b="0" i="0">
                <a:solidFill>
                  <a:srgbClr val="1C1D22"/>
                </a:solidFill>
              </a:rPr>
              <a:t> «</a:t>
            </a:r>
            <a:r>
              <a:rPr sz="1200" b="0" i="0" err="1">
                <a:solidFill>
                  <a:srgbClr val="1C1D22"/>
                </a:solidFill>
              </a:rPr>
              <a:t>увидеть</a:t>
            </a:r>
            <a:r>
              <a:rPr sz="1200" b="0" i="0">
                <a:solidFill>
                  <a:srgbClr val="1C1D22"/>
                </a:solidFill>
              </a:rPr>
              <a:t>» </a:t>
            </a:r>
            <a:r>
              <a:rPr sz="1200" b="0" i="0" err="1">
                <a:solidFill>
                  <a:srgbClr val="1C1D22"/>
                </a:solidFill>
              </a:rPr>
              <a:t>его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в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элементе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пути</a:t>
            </a:r>
            <a:r>
              <a:rPr sz="1200" b="0" i="0">
                <a:solidFill>
                  <a:srgbClr val="1C1D22"/>
                </a:solidFill>
              </a:rPr>
              <a:t>. </a:t>
            </a:r>
            <a:r>
              <a:rPr sz="1200" b="0" i="0" err="1">
                <a:solidFill>
                  <a:srgbClr val="1C1D22"/>
                </a:solidFill>
              </a:rPr>
              <a:t>Для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поезда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без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машиниста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каждое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торможение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должно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быть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объяснимо</a:t>
            </a:r>
            <a:r>
              <a:rPr sz="1200" b="0" i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800600"/>
            <a:ext cx="11292840" cy="1371600"/>
          </a:xfrm>
          <a:prstGeom prst="roundRect">
            <a:avLst>
              <a:gd name="adj" fmla="val 9333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919472"/>
            <a:ext cx="10698480" cy="118872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500"/>
              </a:spcAft>
            </a:pPr>
            <a:r>
              <a:rPr sz="1400" b="0" i="0" err="1">
                <a:solidFill>
                  <a:srgbClr val="FFFFFF"/>
                </a:solidFill>
              </a:rPr>
              <a:t>Главный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инженерный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вопрос</a:t>
            </a:r>
            <a:r>
              <a:rPr sz="1400" b="0" i="0">
                <a:solidFill>
                  <a:srgbClr val="FFFFFF"/>
                </a:solidFill>
              </a:rPr>
              <a:t> — </a:t>
            </a:r>
            <a:r>
              <a:rPr sz="1400" b="0" i="0" err="1">
                <a:solidFill>
                  <a:srgbClr val="FFFFFF"/>
                </a:solidFill>
              </a:rPr>
              <a:t>не</a:t>
            </a:r>
            <a:r>
              <a:rPr sz="1400" b="0" i="0">
                <a:solidFill>
                  <a:srgbClr val="FFFFFF"/>
                </a:solidFill>
              </a:rPr>
              <a:t> «</a:t>
            </a:r>
            <a:r>
              <a:rPr sz="1400" b="0" i="0" err="1">
                <a:solidFill>
                  <a:srgbClr val="FFFFFF"/>
                </a:solidFill>
              </a:rPr>
              <a:t>что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это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за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объект</a:t>
            </a:r>
            <a:r>
              <a:rPr sz="1400" b="0" i="0">
                <a:solidFill>
                  <a:srgbClr val="FFFFFF"/>
                </a:solidFill>
              </a:rPr>
              <a:t>?», </a:t>
            </a:r>
            <a:r>
              <a:rPr sz="1400" b="0" i="0" err="1">
                <a:solidFill>
                  <a:srgbClr val="FFFFFF"/>
                </a:solidFill>
              </a:rPr>
              <a:t>а</a:t>
            </a:r>
            <a:r>
              <a:rPr sz="1400" b="0" i="0">
                <a:solidFill>
                  <a:srgbClr val="FFFFFF"/>
                </a:solidFill>
              </a:rPr>
              <a:t> «</a:t>
            </a:r>
            <a:r>
              <a:rPr sz="1400" b="1" i="0" err="1">
                <a:solidFill>
                  <a:srgbClr val="FFFFFF"/>
                </a:solidFill>
              </a:rPr>
              <a:t>нарушен</a:t>
            </a:r>
            <a:r>
              <a:rPr sz="1400" b="1" i="0">
                <a:solidFill>
                  <a:srgbClr val="FFFFFF"/>
                </a:solidFill>
              </a:rPr>
              <a:t> </a:t>
            </a:r>
            <a:r>
              <a:rPr sz="1400" b="1" i="0" err="1">
                <a:solidFill>
                  <a:srgbClr val="FFFFFF"/>
                </a:solidFill>
              </a:rPr>
              <a:t>ли</a:t>
            </a:r>
            <a:r>
              <a:rPr sz="1400" b="1" i="0">
                <a:solidFill>
                  <a:srgbClr val="FFFFFF"/>
                </a:solidFill>
              </a:rPr>
              <a:t> </a:t>
            </a:r>
            <a:r>
              <a:rPr sz="1400" b="1" i="0" err="1">
                <a:solidFill>
                  <a:srgbClr val="FFFFFF"/>
                </a:solidFill>
              </a:rPr>
              <a:t>кинематический</a:t>
            </a:r>
            <a:r>
              <a:rPr sz="1400" b="1" i="0">
                <a:solidFill>
                  <a:srgbClr val="FFFFFF"/>
                </a:solidFill>
              </a:rPr>
              <a:t> </a:t>
            </a:r>
            <a:r>
              <a:rPr sz="1400" b="1" i="0" err="1">
                <a:solidFill>
                  <a:srgbClr val="FFFFFF"/>
                </a:solidFill>
              </a:rPr>
              <a:t>габарит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объектом</a:t>
            </a:r>
            <a:r>
              <a:rPr sz="1400" b="0" i="0">
                <a:solidFill>
                  <a:srgbClr val="FFFFFF"/>
                </a:solidFill>
              </a:rPr>
              <a:t>, </a:t>
            </a:r>
            <a:r>
              <a:rPr sz="1400" b="0" i="0" err="1">
                <a:solidFill>
                  <a:srgbClr val="FFFFFF"/>
                </a:solidFill>
              </a:rPr>
              <a:t>которого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там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быть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не</a:t>
            </a:r>
            <a:r>
              <a:rPr sz="1400" b="0" i="0">
                <a:solidFill>
                  <a:srgbClr val="FFFFFF"/>
                </a:solidFill>
              </a:rPr>
              <a:t> </a:t>
            </a:r>
            <a:r>
              <a:rPr sz="1400" b="0" i="0" err="1">
                <a:solidFill>
                  <a:srgbClr val="FFFFFF"/>
                </a:solidFill>
              </a:rPr>
              <a:t>должно</a:t>
            </a:r>
            <a:r>
              <a:rPr sz="1400" b="0" i="0">
                <a:solidFill>
                  <a:srgbClr val="FFFFFF"/>
                </a:solidFill>
              </a:rPr>
              <a:t>?»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FD6E4"/>
                </a:solidFill>
              </a:rPr>
              <a:t>→ </a:t>
            </a:r>
            <a:r>
              <a:rPr sz="1200" b="0" i="0" err="1">
                <a:solidFill>
                  <a:srgbClr val="FFD6E4"/>
                </a:solidFill>
              </a:rPr>
              <a:t>детерминированный</a:t>
            </a:r>
            <a:r>
              <a:rPr sz="1200" b="0" i="0">
                <a:solidFill>
                  <a:srgbClr val="FFD6E4"/>
                </a:solidFill>
              </a:rPr>
              <a:t> </a:t>
            </a:r>
            <a:r>
              <a:rPr sz="1200" b="0" i="0" err="1">
                <a:solidFill>
                  <a:srgbClr val="FFD6E4"/>
                </a:solidFill>
              </a:rPr>
              <a:t>конвейер</a:t>
            </a:r>
            <a:r>
              <a:rPr sz="1200" b="0" i="0">
                <a:solidFill>
                  <a:srgbClr val="FFD6E4"/>
                </a:solidFill>
              </a:rPr>
              <a:t>: </a:t>
            </a:r>
            <a:r>
              <a:rPr sz="1200" b="0" i="0" err="1">
                <a:solidFill>
                  <a:srgbClr val="FFD6E4"/>
                </a:solidFill>
              </a:rPr>
              <a:t>высота</a:t>
            </a:r>
            <a:r>
              <a:rPr sz="1200" b="0" i="0">
                <a:solidFill>
                  <a:srgbClr val="FFD6E4"/>
                </a:solidFill>
              </a:rPr>
              <a:t> </a:t>
            </a:r>
            <a:r>
              <a:rPr sz="1200" b="0" i="0" err="1">
                <a:solidFill>
                  <a:srgbClr val="FFD6E4"/>
                </a:solidFill>
              </a:rPr>
              <a:t>рельсов</a:t>
            </a:r>
            <a:r>
              <a:rPr sz="1200" b="0" i="0">
                <a:solidFill>
                  <a:srgbClr val="FFD6E4"/>
                </a:solidFill>
              </a:rPr>
              <a:t> → 3D-ось </a:t>
            </a:r>
            <a:r>
              <a:rPr sz="1200" b="0" i="0" err="1">
                <a:solidFill>
                  <a:srgbClr val="FFD6E4"/>
                </a:solidFill>
              </a:rPr>
              <a:t>пути</a:t>
            </a:r>
            <a:r>
              <a:rPr sz="1200" b="0" i="0">
                <a:solidFill>
                  <a:srgbClr val="FFD6E4"/>
                </a:solidFill>
              </a:rPr>
              <a:t> → </a:t>
            </a:r>
            <a:r>
              <a:rPr sz="1200" b="0" i="0" err="1">
                <a:solidFill>
                  <a:srgbClr val="FFD6E4"/>
                </a:solidFill>
              </a:rPr>
              <a:t>поле</a:t>
            </a:r>
            <a:r>
              <a:rPr sz="1200" b="0" i="0">
                <a:solidFill>
                  <a:srgbClr val="FFD6E4"/>
                </a:solidFill>
              </a:rPr>
              <a:t> </a:t>
            </a:r>
            <a:r>
              <a:rPr sz="1200" b="0" i="0" err="1">
                <a:solidFill>
                  <a:srgbClr val="FFD6E4"/>
                </a:solidFill>
              </a:rPr>
              <a:t>расстояний</a:t>
            </a:r>
            <a:r>
              <a:rPr sz="1200" b="0" i="0">
                <a:solidFill>
                  <a:srgbClr val="FFD6E4"/>
                </a:solidFill>
              </a:rPr>
              <a:t> </a:t>
            </a:r>
            <a:r>
              <a:rPr sz="1200" b="0" i="0" err="1">
                <a:solidFill>
                  <a:srgbClr val="FFD6E4"/>
                </a:solidFill>
              </a:rPr>
              <a:t>габарита</a:t>
            </a:r>
            <a:r>
              <a:rPr sz="1200" b="0" i="0">
                <a:solidFill>
                  <a:srgbClr val="FFD6E4"/>
                </a:solidFill>
              </a:rPr>
              <a:t> «</a:t>
            </a:r>
            <a:r>
              <a:rPr sz="1200" b="0" i="0" err="1">
                <a:solidFill>
                  <a:srgbClr val="FFD6E4"/>
                </a:solidFill>
              </a:rPr>
              <a:t>М</a:t>
            </a:r>
            <a:r>
              <a:rPr sz="1200" b="0" i="0">
                <a:solidFill>
                  <a:srgbClr val="FFD6E4"/>
                </a:solidFill>
              </a:rPr>
              <a:t>» → </a:t>
            </a:r>
            <a:r>
              <a:rPr sz="1200" b="0" i="0" err="1">
                <a:solidFill>
                  <a:srgbClr val="FFD6E4"/>
                </a:solidFill>
              </a:rPr>
              <a:t>фильтрация</a:t>
            </a:r>
            <a:r>
              <a:rPr lang="en-US" sz="1200" b="0" i="0">
                <a:solidFill>
                  <a:srgbClr val="FFD6E4"/>
                </a:solidFill>
              </a:rPr>
              <a:t> </a:t>
            </a:r>
            <a:r>
              <a:rPr lang="ru-RU" sz="1200" b="0" i="0">
                <a:solidFill>
                  <a:srgbClr val="FFD6E4"/>
                </a:solidFill>
              </a:rPr>
              <a:t>шумов по времени</a:t>
            </a:r>
            <a:endParaRPr sz="1200" b="0" i="0">
              <a:solidFill>
                <a:srgbClr val="FFD6E4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11712" y="6355080"/>
            <a:ext cx="557784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20978"/>
                </a:solidFill>
              </a:rPr>
              <a:t>7</a:t>
            </a:r>
          </a:p>
        </p:txBody>
      </p:sp>
      <p:sp>
        <p:nvSpPr>
          <p:cNvPr id="18" name="Номер слайда 35">
            <a:extLst>
              <a:ext uri="{FF2B5EF4-FFF2-40B4-BE49-F238E27FC236}">
                <a16:creationId xmlns:a16="http://schemas.microsoft.com/office/drawing/2014/main" id="{87FB3CD5-06A6-ABBB-D0F0-CFB8762BE38A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7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3438144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ВХОДНЫЕ ДАННЫЕ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37160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3108960" cy="8229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D6E4"/>
                </a:solidFill>
              </a:rPr>
              <a:t>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23160"/>
            <a:ext cx="310896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b="0" i="0">
                <a:solidFill>
                  <a:srgbClr val="FFFFFF"/>
                </a:solidFill>
              </a:rPr>
              <a:t>каналов · Hesai Pandar 128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37160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8229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lang="en-US" sz="3400" b="1" i="0">
                <a:solidFill>
                  <a:srgbClr val="FFD6E4"/>
                </a:solidFill>
              </a:rPr>
              <a:t>~</a:t>
            </a:r>
            <a:r>
              <a:rPr sz="3400" b="1" i="0">
                <a:solidFill>
                  <a:srgbClr val="FFD6E4"/>
                </a:solidFill>
              </a:rPr>
              <a:t>10 </a:t>
            </a:r>
            <a:r>
              <a:rPr sz="3400" b="1" i="0" err="1">
                <a:solidFill>
                  <a:srgbClr val="FFD6E4"/>
                </a:solidFill>
              </a:rPr>
              <a:t>Гц</a:t>
            </a:r>
            <a:endParaRPr sz="3400" b="1" i="0">
              <a:solidFill>
                <a:srgbClr val="FFD6E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6280" y="2423160"/>
            <a:ext cx="310896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b="0" i="0" err="1">
                <a:solidFill>
                  <a:srgbClr val="FFFFFF"/>
                </a:solidFill>
              </a:rPr>
              <a:t>частота</a:t>
            </a:r>
            <a:r>
              <a:rPr b="0" i="0">
                <a:solidFill>
                  <a:srgbClr val="FFFFFF"/>
                </a:solidFill>
              </a:rPr>
              <a:t> </a:t>
            </a:r>
            <a:r>
              <a:rPr b="0" i="0" err="1">
                <a:solidFill>
                  <a:srgbClr val="FFFFFF"/>
                </a:solidFill>
              </a:rPr>
              <a:t>кадров</a:t>
            </a:r>
            <a:r>
              <a:rPr b="0" i="0">
                <a:solidFill>
                  <a:srgbClr val="FFFFFF"/>
                </a:solidFill>
              </a:rPr>
              <a:t> </a:t>
            </a:r>
            <a:r>
              <a:rPr b="0" i="0" err="1">
                <a:solidFill>
                  <a:srgbClr val="FFFFFF"/>
                </a:solidFill>
              </a:rPr>
              <a:t>лидара</a:t>
            </a:r>
            <a:endParaRPr b="0" i="0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137160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1600200"/>
            <a:ext cx="3108960" cy="8229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D6E4"/>
                </a:solidFill>
              </a:rPr>
              <a:t>307 200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423160"/>
            <a:ext cx="310896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b="0" i="0">
                <a:solidFill>
                  <a:srgbClr val="FFFFFF"/>
                </a:solidFill>
              </a:rPr>
              <a:t>точек в одном кадре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858768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087368"/>
            <a:ext cx="3108960" cy="8229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D6E4"/>
                </a:solidFill>
              </a:rPr>
              <a:t>26 байт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10328"/>
            <a:ext cx="310896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 err="1">
                <a:solidFill>
                  <a:srgbClr val="FFFFFF"/>
                </a:solidFill>
              </a:rPr>
              <a:t>невыровненный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point_step</a:t>
            </a:r>
            <a:r>
              <a:rPr sz="1500" b="0" i="0">
                <a:solidFill>
                  <a:srgbClr val="FFFFFF"/>
                </a:solidFill>
              </a:rPr>
              <a:t>: XYZ, </a:t>
            </a:r>
            <a:r>
              <a:rPr sz="1500" b="0" i="0" err="1">
                <a:solidFill>
                  <a:srgbClr val="FFFFFF"/>
                </a:solidFill>
              </a:rPr>
              <a:t>интенсивность</a:t>
            </a:r>
            <a:r>
              <a:rPr sz="1500" b="0" i="0">
                <a:solidFill>
                  <a:srgbClr val="FFFFFF"/>
                </a:solidFill>
              </a:rPr>
              <a:t>, </a:t>
            </a:r>
            <a:r>
              <a:rPr sz="1500" b="0" i="0" err="1">
                <a:solidFill>
                  <a:srgbClr val="FFFFFF"/>
                </a:solidFill>
              </a:rPr>
              <a:t>кольцо</a:t>
            </a:r>
            <a:r>
              <a:rPr sz="1500" b="0" i="0">
                <a:solidFill>
                  <a:srgbClr val="FFFFFF"/>
                </a:solidFill>
              </a:rPr>
              <a:t>, </a:t>
            </a:r>
            <a:r>
              <a:rPr sz="1500" b="0" i="0" err="1">
                <a:solidFill>
                  <a:srgbClr val="FFFFFF"/>
                </a:solidFill>
              </a:rPr>
              <a:t>метка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времени</a:t>
            </a:r>
            <a:r>
              <a:rPr sz="1500" b="0" i="0">
                <a:solidFill>
                  <a:srgbClr val="FFFFFF"/>
                </a:solidFill>
              </a:rPr>
              <a:t> — </a:t>
            </a:r>
            <a:r>
              <a:rPr sz="1500" b="0" i="0" err="1">
                <a:solidFill>
                  <a:srgbClr val="FFFFFF"/>
                </a:solidFill>
              </a:rPr>
              <a:t>разбор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через</a:t>
            </a:r>
            <a:r>
              <a:rPr sz="1500" b="0" i="0">
                <a:solidFill>
                  <a:srgbClr val="FFFFFF"/>
                </a:solidFill>
              </a:rPr>
              <a:t> std::</a:t>
            </a:r>
            <a:r>
              <a:rPr sz="1500" b="0" i="0" err="1">
                <a:solidFill>
                  <a:srgbClr val="FFFFFF"/>
                </a:solidFill>
              </a:rPr>
              <a:t>memcpy</a:t>
            </a:r>
            <a:endParaRPr sz="1500" b="0" i="0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51960" y="3858768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4087368"/>
            <a:ext cx="3108960" cy="8229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D6E4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910328"/>
            <a:ext cx="310896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 err="1">
                <a:solidFill>
                  <a:srgbClr val="FFFFFF"/>
                </a:solidFill>
              </a:rPr>
              <a:t>источников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одометрии</a:t>
            </a:r>
            <a:r>
              <a:rPr sz="1500" b="0" i="0">
                <a:solidFill>
                  <a:srgbClr val="FFFFFF"/>
                </a:solidFill>
              </a:rPr>
              <a:t>: </a:t>
            </a:r>
            <a:r>
              <a:rPr sz="1500" b="0" i="0" err="1">
                <a:solidFill>
                  <a:srgbClr val="FFFFFF"/>
                </a:solidFill>
              </a:rPr>
              <a:t>скорость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поезда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оценивается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по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самому</a:t>
            </a:r>
            <a:r>
              <a:rPr sz="1500" b="0" i="0">
                <a:solidFill>
                  <a:srgbClr val="FFFFFF"/>
                </a:solidFill>
              </a:rPr>
              <a:t> </a:t>
            </a:r>
            <a:r>
              <a:rPr sz="1500" b="0" i="0" err="1">
                <a:solidFill>
                  <a:srgbClr val="FFFFFF"/>
                </a:solidFill>
              </a:rPr>
              <a:t>облаку</a:t>
            </a:r>
            <a:endParaRPr sz="1500" b="0" i="0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0" y="3858768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4087368"/>
            <a:ext cx="3108960" cy="8229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D6E4"/>
                </a:solidFill>
              </a:rPr>
              <a:t>ROS 2 bag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910328"/>
            <a:ext cx="310896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</a:rPr>
              <a:t>SQLite3 .db3 / MCAP · </a:t>
            </a:r>
            <a:r>
              <a:rPr sz="1500" b="0" i="0" err="1">
                <a:solidFill>
                  <a:srgbClr val="FFFFFF"/>
                </a:solidFill>
              </a:rPr>
              <a:t>sensor_msgs</a:t>
            </a:r>
            <a:r>
              <a:rPr sz="1500" b="0" i="0">
                <a:solidFill>
                  <a:srgbClr val="FFFFFF"/>
                </a:solidFill>
              </a:rPr>
              <a:t>/PointCloud2 · ROS 2 Humble</a:t>
            </a:r>
          </a:p>
        </p:txBody>
      </p:sp>
      <p:sp>
        <p:nvSpPr>
          <p:cNvPr id="23" name="Номер слайда 35">
            <a:extLst>
              <a:ext uri="{FF2B5EF4-FFF2-40B4-BE49-F238E27FC236}">
                <a16:creationId xmlns:a16="http://schemas.microsoft.com/office/drawing/2014/main" id="{5BF31962-975B-3643-F78C-2D2C1A688F40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8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4421124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АРХИТЕКТУРА РЕШЕНИЯ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</a:rPr>
              <a:t>ROS 2 bag / 3D-лидар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FFD6E4"/>
                </a:solidFill>
              </a:rPr>
              <a:t>PointCloud2, 10 </a:t>
            </a:r>
            <a:r>
              <a:rPr sz="950" b="0" i="0" err="1">
                <a:solidFill>
                  <a:srgbClr val="FFD6E4"/>
                </a:solidFill>
              </a:rPr>
              <a:t>Гц</a:t>
            </a:r>
            <a:r>
              <a:rPr sz="950" b="0" i="0">
                <a:solidFill>
                  <a:srgbClr val="FFD6E4"/>
                </a:solidFill>
              </a:rPr>
              <a:t>, ≈307 </a:t>
            </a:r>
            <a:r>
              <a:rPr sz="950" b="0" i="0" err="1">
                <a:solidFill>
                  <a:srgbClr val="FFD6E4"/>
                </a:solidFill>
              </a:rPr>
              <a:t>тыс</a:t>
            </a:r>
            <a:r>
              <a:rPr sz="950" b="0" i="0">
                <a:solidFill>
                  <a:srgbClr val="FFD6E4"/>
                </a:solidFill>
              </a:rPr>
              <a:t>. </a:t>
            </a:r>
            <a:r>
              <a:rPr sz="950" b="0" i="0" err="1">
                <a:solidFill>
                  <a:srgbClr val="FFD6E4"/>
                </a:solidFill>
              </a:rPr>
              <a:t>точек</a:t>
            </a:r>
            <a:endParaRPr sz="950" b="0" i="0">
              <a:solidFill>
                <a:srgbClr val="FFD6E4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91840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520978"/>
                </a:solidFill>
              </a:rPr>
              <a:t>CloudParser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C1D22"/>
                </a:solidFill>
              </a:rPr>
              <a:t>разбор 26-байтных записей, NaN/0-фильтр, ROI 300 × ±12 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520978"/>
                </a:solidFill>
              </a:rPr>
              <a:t>DualRailTracker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C1D22"/>
                </a:solidFill>
              </a:rPr>
              <a:t>пара рельсов 1520 ± 80 мм, УГР — 90-й перцентиль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59" y="12801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520978"/>
                </a:solidFill>
              </a:rPr>
              <a:t>TrackGeometrySpline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C1D22"/>
                </a:solidFill>
              </a:rPr>
              <a:t>3D-ось пути на 150 м, 41 точка, одно/двухпутный тоннель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59" y="3749039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</a:rPr>
              <a:t>Детекторы + SDF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</a:rPr>
              <a:t>габарит «М» ГОСТ 9238 → объёмные тела, предметы на рельсах, кабели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49039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520978"/>
                </a:solidFill>
              </a:rPr>
              <a:t>TemporalTracker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C1D22"/>
                </a:solidFill>
              </a:rPr>
              <a:t>компенсация эго-движения, GNN, подтверждение ≥ 2 кадров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749039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520978"/>
                </a:solidFill>
              </a:rPr>
              <a:t>DecisionEngine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C1D22"/>
                </a:solidFill>
              </a:rPr>
              <a:t>S_brake(V), TTC, CLEAR / ADVISORY / WARNING / EMERGENCY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49039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 err="1">
                <a:solidFill>
                  <a:srgbClr val="FFFFFF"/>
                </a:solidFill>
              </a:rPr>
              <a:t>Выход</a:t>
            </a:r>
            <a:endParaRPr sz="1250" b="1" i="0">
              <a:solidFill>
                <a:srgbClr val="FFFFFF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950" b="0" i="0">
                <a:solidFill>
                  <a:srgbClr val="FFD6E4"/>
                </a:solidFill>
              </a:rPr>
              <a:t>/metro/obstacles </a:t>
            </a:r>
            <a:endParaRPr lang="ru-RU" sz="950" b="0" i="0">
              <a:solidFill>
                <a:srgbClr val="FFD6E4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950" b="0" i="0">
                <a:solidFill>
                  <a:srgbClr val="FFD6E4"/>
                </a:solidFill>
              </a:rPr>
              <a:t>Web GUI :8080 </a:t>
            </a:r>
            <a:endParaRPr lang="ru-RU" sz="950" b="0" i="0">
              <a:solidFill>
                <a:srgbClr val="FFD6E4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950" b="0" i="0">
                <a:solidFill>
                  <a:srgbClr val="FFD6E4"/>
                </a:solidFill>
              </a:rPr>
              <a:t>Foxglove :8765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59" y="2743200"/>
            <a:ext cx="4526280" cy="658368"/>
          </a:xfrm>
          <a:prstGeom prst="roundRect">
            <a:avLst>
              <a:gd name="adj" fmla="val 16666"/>
            </a:avLst>
          </a:prstGeom>
          <a:solidFill>
            <a:srgbClr val="F6F3FC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28016" bIns="36576" rtlCol="0" anchor="ctr"/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520978"/>
                </a:solidFill>
              </a:rPr>
              <a:t>TrainVelocityEstimator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C1D22"/>
                </a:solidFill>
              </a:rPr>
              <a:t>скорость по 1D кросс-корреляции профилей тоннеля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1828800"/>
            <a:ext cx="228600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1828800"/>
            <a:ext cx="228600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23960" y="1828800"/>
            <a:ext cx="228599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78439" y="2377439"/>
            <a:ext cx="0" cy="137160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823960" y="4297679"/>
            <a:ext cx="228599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943600" y="4297679"/>
            <a:ext cx="228600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063240" y="4297679"/>
            <a:ext cx="228600" cy="0"/>
          </a:xfrm>
          <a:prstGeom prst="line">
            <a:avLst/>
          </a:prstGeom>
          <a:ln w="2222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7720" y="2377439"/>
            <a:ext cx="0" cy="365761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7720" y="3401568"/>
            <a:ext cx="0" cy="347471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3401568"/>
            <a:ext cx="0" cy="347471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5349240"/>
            <a:ext cx="1940356" cy="420624"/>
          </a:xfrm>
          <a:prstGeom prst="roundRect">
            <a:avLst>
              <a:gd name="adj" fmla="val 50000"/>
            </a:avLst>
          </a:prstGeom>
          <a:solidFill>
            <a:srgbClr val="F6F3FC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20978"/>
                </a:solidFill>
              </a:rPr>
              <a:t>C++17 — ядро детекции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88996" y="5349240"/>
            <a:ext cx="2165299" cy="420624"/>
          </a:xfrm>
          <a:prstGeom prst="roundRect">
            <a:avLst>
              <a:gd name="adj" fmla="val 50000"/>
            </a:avLst>
          </a:prstGeom>
          <a:solidFill>
            <a:srgbClr val="F6F3FC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20978"/>
                </a:solidFill>
              </a:rPr>
              <a:t>Python 3 — веб-интерфейс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91456" y="5349240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F6F3FC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20978"/>
                </a:solidFill>
              </a:rPr>
              <a:t>ROS 2 Humble · CycloneDDS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68896" y="5349240"/>
            <a:ext cx="2465222" cy="420624"/>
          </a:xfrm>
          <a:prstGeom prst="roundRect">
            <a:avLst>
              <a:gd name="adj" fmla="val 50000"/>
            </a:avLst>
          </a:prstGeom>
          <a:solidFill>
            <a:srgbClr val="F6F3FC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20978"/>
                </a:solidFill>
              </a:rPr>
              <a:t>Docker · ros:humble-ros-base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71278" y="5349240"/>
            <a:ext cx="2090318" cy="420624"/>
          </a:xfrm>
          <a:prstGeom prst="roundRect">
            <a:avLst>
              <a:gd name="adj" fmla="val 50000"/>
            </a:avLst>
          </a:prstGeom>
          <a:solidFill>
            <a:srgbClr val="F6F3FC"/>
          </a:solidFill>
          <a:ln w="1270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20978"/>
                </a:solidFill>
              </a:rPr>
              <a:t>GTest — модульные тесты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943600"/>
            <a:ext cx="1097280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 err="1">
                <a:solidFill>
                  <a:schemeClr val="bg1"/>
                </a:solidFill>
              </a:rPr>
              <a:t>Все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модули</a:t>
            </a:r>
            <a:r>
              <a:rPr sz="1000" b="0" i="0">
                <a:solidFill>
                  <a:schemeClr val="bg1"/>
                </a:solidFill>
              </a:rPr>
              <a:t> — </a:t>
            </a:r>
            <a:r>
              <a:rPr sz="1000" b="0" i="0" err="1">
                <a:solidFill>
                  <a:schemeClr val="bg1"/>
                </a:solidFill>
              </a:rPr>
              <a:t>классы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в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одном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процессе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ObstacleDetectorPipeline</a:t>
            </a:r>
            <a:r>
              <a:rPr sz="1000" b="0" i="0">
                <a:solidFill>
                  <a:schemeClr val="bg1"/>
                </a:solidFill>
              </a:rPr>
              <a:t>: </a:t>
            </a:r>
            <a:r>
              <a:rPr sz="1000" b="0" i="0" err="1">
                <a:solidFill>
                  <a:schemeClr val="bg1"/>
                </a:solidFill>
              </a:rPr>
              <a:t>кадр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проходит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конвейер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без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копирования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между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узлами</a:t>
            </a:r>
            <a:r>
              <a:rPr sz="1000" b="0" i="0">
                <a:solidFill>
                  <a:schemeClr val="bg1"/>
                </a:solidFill>
              </a:rPr>
              <a:t> ROS 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11712" y="6355080"/>
            <a:ext cx="557784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20978"/>
                </a:solidFill>
              </a:rPr>
              <a:t>9</a:t>
            </a:r>
          </a:p>
        </p:txBody>
      </p:sp>
      <p:sp>
        <p:nvSpPr>
          <p:cNvPr id="29" name="Номер слайда 35">
            <a:extLst>
              <a:ext uri="{FF2B5EF4-FFF2-40B4-BE49-F238E27FC236}">
                <a16:creationId xmlns:a16="http://schemas.microsoft.com/office/drawing/2014/main" id="{1663B5E2-DA82-0162-E94F-B46F42AF077B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9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5207508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ЦЕПОЧКА ОБРАБОТКИ КАДРА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261872"/>
            <a:ext cx="402336" cy="402336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194560" cy="384048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Облако точек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2697480" cy="2023110"/>
          </a:xfrm>
          <a:prstGeom prst="roundRect">
            <a:avLst>
              <a:gd name="adj" fmla="val 5423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411480" y="3895344"/>
            <a:ext cx="2697480" cy="7315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D6E4"/>
                </a:solidFill>
              </a:rPr>
              <a:t>Сырые точки лидара после фильтра ROI</a:t>
            </a:r>
          </a:p>
        </p:txBody>
      </p:sp>
      <p:sp>
        <p:nvSpPr>
          <p:cNvPr id="7" name="Chevron 6"/>
          <p:cNvSpPr/>
          <p:nvPr/>
        </p:nvSpPr>
        <p:spPr>
          <a:xfrm>
            <a:off x="3127248" y="2743200"/>
            <a:ext cx="128016" cy="219456"/>
          </a:xfrm>
          <a:prstGeom prst="chevron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273552" y="1261872"/>
            <a:ext cx="402336" cy="402336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280160"/>
            <a:ext cx="2194560" cy="384048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Ось пути и габарит</a:t>
            </a:r>
          </a:p>
        </p:txBody>
      </p:sp>
      <p:pic>
        <p:nvPicPr>
          <p:cNvPr id="10" name="Picture 9" descr="st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783080"/>
            <a:ext cx="2697480" cy="2023110"/>
          </a:xfrm>
          <a:prstGeom prst="roundRect">
            <a:avLst>
              <a:gd name="adj" fmla="val 5423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3273552" y="3895344"/>
            <a:ext cx="2697480" cy="7315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D6E4"/>
                </a:solidFill>
              </a:rPr>
              <a:t>Рельсы → УГР → 3D-ось; габарит «М» разворачивается вдоль оси</a:t>
            </a:r>
          </a:p>
        </p:txBody>
      </p:sp>
      <p:sp>
        <p:nvSpPr>
          <p:cNvPr id="12" name="Chevron 11"/>
          <p:cNvSpPr/>
          <p:nvPr/>
        </p:nvSpPr>
        <p:spPr>
          <a:xfrm>
            <a:off x="5989320" y="2743200"/>
            <a:ext cx="128016" cy="219456"/>
          </a:xfrm>
          <a:prstGeom prst="chevron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35624" y="1261872"/>
            <a:ext cx="402336" cy="402336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1280160"/>
            <a:ext cx="2194560" cy="384048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Нарушение габарита</a:t>
            </a:r>
          </a:p>
        </p:txBody>
      </p:sp>
      <p:pic>
        <p:nvPicPr>
          <p:cNvPr id="15" name="Picture 14" descr="st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783080"/>
            <a:ext cx="2697480" cy="2023110"/>
          </a:xfrm>
          <a:prstGeom prst="roundRect">
            <a:avLst>
              <a:gd name="adj" fmla="val 5423"/>
            </a:avLst>
          </a:prstGeom>
        </p:spPr>
      </p:pic>
      <p:sp>
        <p:nvSpPr>
          <p:cNvPr id="16" name="TextBox 15"/>
          <p:cNvSpPr txBox="1"/>
          <p:nvPr/>
        </p:nvSpPr>
        <p:spPr>
          <a:xfrm>
            <a:off x="6135624" y="3895344"/>
            <a:ext cx="2697480" cy="7315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D6E4"/>
                </a:solidFill>
              </a:rPr>
              <a:t>Точки с SDF &lt; 0 вне масок инфраструктуры — кандидаты</a:t>
            </a:r>
          </a:p>
        </p:txBody>
      </p:sp>
      <p:sp>
        <p:nvSpPr>
          <p:cNvPr id="17" name="Chevron 16"/>
          <p:cNvSpPr/>
          <p:nvPr/>
        </p:nvSpPr>
        <p:spPr>
          <a:xfrm>
            <a:off x="8851392" y="2743200"/>
            <a:ext cx="128016" cy="219456"/>
          </a:xfrm>
          <a:prstGeom prst="chevron">
            <a:avLst/>
          </a:prstGeom>
          <a:solidFill>
            <a:srgbClr val="FF0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7696" y="1261872"/>
            <a:ext cx="402336" cy="402336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616" y="1280160"/>
            <a:ext cx="2194560" cy="384048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</a:rPr>
              <a:t>Препятствие</a:t>
            </a:r>
          </a:p>
        </p:txBody>
      </p:sp>
      <p:pic>
        <p:nvPicPr>
          <p:cNvPr id="20" name="Picture 19" descr="st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1783080"/>
            <a:ext cx="2697480" cy="2023110"/>
          </a:xfrm>
          <a:prstGeom prst="roundRect">
            <a:avLst>
              <a:gd name="adj" fmla="val 5423"/>
            </a:avLst>
          </a:prstGeom>
        </p:spPr>
      </p:pic>
      <p:sp>
        <p:nvSpPr>
          <p:cNvPr id="21" name="TextBox 20"/>
          <p:cNvSpPr txBox="1"/>
          <p:nvPr/>
        </p:nvSpPr>
        <p:spPr>
          <a:xfrm>
            <a:off x="8997696" y="3895344"/>
            <a:ext cx="2697480" cy="7315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D6E4"/>
                </a:solidFill>
              </a:rPr>
              <a:t>Кластер → 3D-бокс, дистанция по дуге пути, подтверждение ≥ 2 кадров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846320"/>
            <a:ext cx="2103120" cy="1097280"/>
          </a:xfrm>
          <a:prstGeom prst="roundRect">
            <a:avLst>
              <a:gd name="adj" fmla="val 11666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919472"/>
            <a:ext cx="1828800" cy="548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ОПАСНОСТЬ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422392"/>
            <a:ext cx="1828800" cy="4572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</a:rPr>
              <a:t>статус пути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4846320"/>
            <a:ext cx="2103120" cy="1097280"/>
          </a:xfrm>
          <a:prstGeom prst="roundRect">
            <a:avLst>
              <a:gd name="adj" fmla="val 11666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4919472"/>
            <a:ext cx="1828800" cy="548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47.7 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422392"/>
            <a:ext cx="1828800" cy="4572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D6E4"/>
                </a:solidFill>
              </a:rPr>
              <a:t>дистанция до объекта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46320"/>
            <a:ext cx="2103120" cy="1097280"/>
          </a:xfrm>
          <a:prstGeom prst="roundRect">
            <a:avLst>
              <a:gd name="adj" fmla="val 11666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66360" y="4919472"/>
            <a:ext cx="1828800" cy="548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422392"/>
            <a:ext cx="1828800" cy="4572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D6E4"/>
                </a:solidFill>
              </a:rPr>
              <a:t>точки в кластере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4846320"/>
            <a:ext cx="2103120" cy="1097280"/>
          </a:xfrm>
          <a:prstGeom prst="roundRect">
            <a:avLst>
              <a:gd name="adj" fmla="val 11666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52360" y="4919472"/>
            <a:ext cx="1828800" cy="548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−0.85 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422392"/>
            <a:ext cx="1828800" cy="4572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D6E4"/>
                </a:solidFill>
              </a:rPr>
              <a:t>проникновение в габарит (SDF)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4846320"/>
            <a:ext cx="2103120" cy="1097280"/>
          </a:xfrm>
          <a:prstGeom prst="roundRect">
            <a:avLst>
              <a:gd name="adj" fmla="val 11666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59" y="4919472"/>
            <a:ext cx="1828800" cy="548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91.6 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5422392"/>
            <a:ext cx="1828800" cy="4572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D6E4"/>
                </a:solidFill>
              </a:rPr>
              <a:t>второй объект, в кривой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053328"/>
            <a:ext cx="1097280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 err="1">
                <a:solidFill>
                  <a:schemeClr val="bg1"/>
                </a:solidFill>
              </a:rPr>
              <a:t>Результат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на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синтетической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сцене</a:t>
            </a:r>
            <a:r>
              <a:rPr sz="1000" b="0" i="0">
                <a:solidFill>
                  <a:schemeClr val="bg1"/>
                </a:solidFill>
              </a:rPr>
              <a:t>; </a:t>
            </a:r>
            <a:r>
              <a:rPr sz="1000" b="0" i="0" err="1">
                <a:solidFill>
                  <a:schemeClr val="bg1"/>
                </a:solidFill>
              </a:rPr>
              <a:t>на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реальных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записях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те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же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шаги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показаны</a:t>
            </a:r>
            <a:r>
              <a:rPr sz="1000" b="0" i="0">
                <a:solidFill>
                  <a:schemeClr val="bg1"/>
                </a:solidFill>
              </a:rPr>
              <a:t> </a:t>
            </a:r>
            <a:r>
              <a:rPr sz="1000" b="0" i="0" err="1">
                <a:solidFill>
                  <a:schemeClr val="bg1"/>
                </a:solidFill>
              </a:rPr>
              <a:t>в</a:t>
            </a:r>
            <a:r>
              <a:rPr sz="1000" b="0" i="0">
                <a:solidFill>
                  <a:schemeClr val="bg1"/>
                </a:solidFill>
              </a:rPr>
              <a:t> Web GUI </a:t>
            </a:r>
            <a:r>
              <a:rPr sz="1000" b="0" i="0" err="1">
                <a:solidFill>
                  <a:schemeClr val="bg1"/>
                </a:solidFill>
              </a:rPr>
              <a:t>и</a:t>
            </a:r>
            <a:r>
              <a:rPr sz="1000" b="0" i="0">
                <a:solidFill>
                  <a:schemeClr val="bg1"/>
                </a:solidFill>
              </a:rPr>
              <a:t> Foxglove (</a:t>
            </a:r>
            <a:r>
              <a:rPr sz="1000" b="0" i="0" err="1">
                <a:solidFill>
                  <a:schemeClr val="bg1"/>
                </a:solidFill>
              </a:rPr>
              <a:t>слайды</a:t>
            </a:r>
            <a:r>
              <a:rPr sz="1000" b="0" i="0">
                <a:solidFill>
                  <a:schemeClr val="bg1"/>
                </a:solidFill>
              </a:rPr>
              <a:t> 20–21).</a:t>
            </a:r>
          </a:p>
        </p:txBody>
      </p:sp>
      <p:sp>
        <p:nvSpPr>
          <p:cNvPr id="39" name="Номер слайда 35">
            <a:extLst>
              <a:ext uri="{FF2B5EF4-FFF2-40B4-BE49-F238E27FC236}">
                <a16:creationId xmlns:a16="http://schemas.microsoft.com/office/drawing/2014/main" id="{56BE01F4-8528-995C-872E-E7ECB19321DC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10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6350508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СКОРОСТЬ </a:t>
            </a:r>
            <a:r>
              <a:rPr sz="2000" b="1" i="0" err="1">
                <a:solidFill>
                  <a:srgbClr val="FFFFFF"/>
                </a:solidFill>
              </a:rPr>
              <a:t>И</a:t>
            </a:r>
            <a:r>
              <a:rPr sz="2000" b="1" i="0">
                <a:solidFill>
                  <a:srgbClr val="FFFFFF"/>
                </a:solidFill>
              </a:rPr>
              <a:t> ВРЕМЕННАЯ ФИЛЬТРАЦИЯ</a:t>
            </a:r>
          </a:p>
        </p:txBody>
      </p:sp>
      <p:pic>
        <p:nvPicPr>
          <p:cNvPr id="3" name="Picture 2" descr="fig_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11338560" cy="32842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482109"/>
            <a:ext cx="1133856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 dirty="0" err="1">
                <a:solidFill>
                  <a:schemeClr val="bg1"/>
                </a:solidFill>
              </a:rPr>
              <a:t>Схема</a:t>
            </a:r>
            <a:r>
              <a:rPr sz="1000" b="0" i="0" dirty="0">
                <a:solidFill>
                  <a:schemeClr val="bg1"/>
                </a:solidFill>
              </a:rPr>
              <a:t> </a:t>
            </a:r>
            <a:r>
              <a:rPr sz="1000" b="0" i="0" dirty="0" err="1">
                <a:solidFill>
                  <a:schemeClr val="bg1"/>
                </a:solidFill>
              </a:rPr>
              <a:t>принципа</a:t>
            </a:r>
            <a:r>
              <a:rPr sz="1000" b="0" i="0" dirty="0">
                <a:solidFill>
                  <a:schemeClr val="bg1"/>
                </a:solidFill>
              </a:rPr>
              <a:t> </a:t>
            </a:r>
            <a:r>
              <a:rPr sz="1000" b="0" i="0" dirty="0" err="1">
                <a:solidFill>
                  <a:schemeClr val="bg1"/>
                </a:solidFill>
              </a:rPr>
              <a:t>на</a:t>
            </a:r>
            <a:r>
              <a:rPr sz="1000" b="0" i="0" dirty="0">
                <a:solidFill>
                  <a:schemeClr val="bg1"/>
                </a:solidFill>
              </a:rPr>
              <a:t> </a:t>
            </a:r>
            <a:r>
              <a:rPr sz="1000" b="0" i="0" dirty="0" err="1">
                <a:solidFill>
                  <a:schemeClr val="bg1"/>
                </a:solidFill>
              </a:rPr>
              <a:t>модельном</a:t>
            </a:r>
            <a:r>
              <a:rPr sz="1000" b="0" i="0" dirty="0">
                <a:solidFill>
                  <a:schemeClr val="bg1"/>
                </a:solidFill>
              </a:rPr>
              <a:t> </a:t>
            </a:r>
            <a:r>
              <a:rPr sz="1000" b="0" i="0" dirty="0" err="1">
                <a:solidFill>
                  <a:schemeClr val="bg1"/>
                </a:solidFill>
              </a:rPr>
              <a:t>профиле</a:t>
            </a:r>
            <a:r>
              <a:rPr sz="1000" b="0" i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820437"/>
            <a:ext cx="5532120" cy="1443202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930165"/>
            <a:ext cx="512064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20978"/>
                </a:solidFill>
              </a:rPr>
              <a:t>TrainVelocityEstimator — одометрия не нужна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95924"/>
            <a:ext cx="5120640" cy="89456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1C1D22"/>
                </a:solidFill>
              </a:rPr>
              <a:t>Гистограмма отражений стен и свода (|x| ≥ 1.2 м) на s = 5–50 м с бином 5 см → нормированная кросс-корреляция с прошлым кадром → параболическое уточнение пика → ограничение ускорения 6 м/с² и EMA (α = 0.45).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820437"/>
            <a:ext cx="5532120" cy="1443202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930165"/>
            <a:ext cx="512064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20978"/>
                </a:solidFill>
              </a:rPr>
              <a:t>TemporalObstacleTracker — отсев вспышек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95924"/>
            <a:ext cx="5120640" cy="894562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1C1D22"/>
                </a:solidFill>
              </a:rPr>
              <a:t>Компенсация эго-движения (Δy = V·Δt) → ассоциация по ближайшему соседу (гейт 2.5 м) → EMA позиции и скорости → подтверждение за ≥ 2 кадра, удаление после 3 пропусков. Одиночные отражения от крестовин не проходят.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355080"/>
            <a:ext cx="557784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20978"/>
                </a:solidFill>
              </a:rPr>
              <a:t>14</a:t>
            </a:r>
          </a:p>
        </p:txBody>
      </p:sp>
      <p:sp>
        <p:nvSpPr>
          <p:cNvPr id="12" name="Номер слайда 35">
            <a:extLst>
              <a:ext uri="{FF2B5EF4-FFF2-40B4-BE49-F238E27FC236}">
                <a16:creationId xmlns:a16="http://schemas.microsoft.com/office/drawing/2014/main" id="{20CB2508-7DC4-F382-36BC-68B469B10EB8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11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4617720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РЕШЕНИЕ О ТОРМОЖЕНИИ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6309360" cy="4983480"/>
          </a:xfrm>
          <a:prstGeom prst="roundRect">
            <a:avLst>
              <a:gd name="adj" fmla="val 25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60350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95160" y="1234440"/>
            <a:ext cx="475488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0" y="1325880"/>
            <a:ext cx="4389120" cy="146304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</a:rPr>
              <a:t>S_brake(V) = V·t_react + V² / (2·a_emerg) + S_margin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D6E4"/>
                </a:solidFill>
              </a:rPr>
              <a:t>t_react = 0.5 с · a_emerg = 1.2 м/с² · S_margin = 10 м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FD6E4"/>
                </a:solidFill>
              </a:rPr>
              <a:t>TTC = D / V, где D — дистанция по дуге пути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3017520"/>
            <a:ext cx="4754880" cy="694944"/>
          </a:xfrm>
          <a:prstGeom prst="roundRect">
            <a:avLst>
              <a:gd name="adj" fmla="val 15789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96328" y="3054096"/>
            <a:ext cx="4389120" cy="64008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EMERGENCY_BRAKE</a:t>
            </a:r>
          </a:p>
          <a:p>
            <a:pPr algn="l">
              <a:spcAft>
                <a:spcPts val="0"/>
              </a:spcAft>
            </a:pPr>
            <a:r>
              <a:rPr sz="950" b="0" i="0" err="1">
                <a:solidFill>
                  <a:srgbClr val="FFFFFF"/>
                </a:solidFill>
              </a:rPr>
              <a:t>в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габарите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и</a:t>
            </a:r>
            <a:r>
              <a:rPr sz="950" b="0" i="0">
                <a:solidFill>
                  <a:srgbClr val="FFFFFF"/>
                </a:solidFill>
              </a:rPr>
              <a:t> D ≤ </a:t>
            </a:r>
            <a:r>
              <a:rPr sz="950" b="0" i="0" err="1">
                <a:solidFill>
                  <a:srgbClr val="FFFFFF"/>
                </a:solidFill>
              </a:rPr>
              <a:t>S_brake</a:t>
            </a:r>
            <a:r>
              <a:rPr sz="950" b="0" i="0">
                <a:solidFill>
                  <a:srgbClr val="FFFFFF"/>
                </a:solidFill>
              </a:rPr>
              <a:t>(V) → </a:t>
            </a:r>
            <a:r>
              <a:rPr sz="950" b="0" i="0" err="1">
                <a:solidFill>
                  <a:srgbClr val="FFFFFF"/>
                </a:solidFill>
              </a:rPr>
              <a:t>флаг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emergency_brake_required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для</a:t>
            </a:r>
            <a:r>
              <a:rPr sz="950" b="0" i="0">
                <a:solidFill>
                  <a:srgbClr val="FFFFFF"/>
                </a:solidFill>
              </a:rPr>
              <a:t> АРС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3822191"/>
            <a:ext cx="4754880" cy="694944"/>
          </a:xfrm>
          <a:prstGeom prst="roundRect">
            <a:avLst>
              <a:gd name="adj" fmla="val 15789"/>
            </a:avLst>
          </a:prstGeom>
          <a:solidFill>
            <a:srgbClr val="FC3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96328" y="3858768"/>
            <a:ext cx="4389120" cy="64008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TRACK_WARNING</a:t>
            </a:r>
          </a:p>
          <a:p>
            <a:pPr algn="l">
              <a:spcAft>
                <a:spcPts val="0"/>
              </a:spcAft>
            </a:pPr>
            <a:r>
              <a:rPr sz="950" b="0" i="0" err="1">
                <a:solidFill>
                  <a:srgbClr val="FFFFFF"/>
                </a:solidFill>
              </a:rPr>
              <a:t>в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габарите</a:t>
            </a:r>
            <a:r>
              <a:rPr sz="950" b="0" i="0">
                <a:solidFill>
                  <a:srgbClr val="FFFFFF"/>
                </a:solidFill>
              </a:rPr>
              <a:t>, D &gt; </a:t>
            </a:r>
            <a:r>
              <a:rPr sz="950" b="0" i="0" err="1">
                <a:solidFill>
                  <a:srgbClr val="FFFFFF"/>
                </a:solidFill>
              </a:rPr>
              <a:t>S_brake</a:t>
            </a:r>
            <a:r>
              <a:rPr sz="950" b="0" i="0">
                <a:solidFill>
                  <a:srgbClr val="FFFFFF"/>
                </a:solidFill>
              </a:rPr>
              <a:t>(V): </a:t>
            </a:r>
            <a:r>
              <a:rPr sz="950" b="0" i="0" err="1">
                <a:solidFill>
                  <a:srgbClr val="FFFFFF"/>
                </a:solidFill>
              </a:rPr>
              <a:t>время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на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служебное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торможение</a:t>
            </a:r>
            <a:endParaRPr sz="950" b="0" i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95160" y="4626864"/>
            <a:ext cx="4754880" cy="694944"/>
          </a:xfrm>
          <a:prstGeom prst="roundRect">
            <a:avLst>
              <a:gd name="adj" fmla="val 15789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96328" y="4663440"/>
            <a:ext cx="4389120" cy="64008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NEAR_GAUGE_ADVISORY</a:t>
            </a:r>
          </a:p>
          <a:p>
            <a:pPr algn="l">
              <a:spcAft>
                <a:spcPts val="0"/>
              </a:spcAft>
            </a:pPr>
            <a:r>
              <a:rPr sz="950" b="0" i="0" err="1">
                <a:solidFill>
                  <a:srgbClr val="FFFFFF"/>
                </a:solidFill>
              </a:rPr>
              <a:t>вне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габарита</a:t>
            </a:r>
            <a:r>
              <a:rPr sz="950" b="0" i="0">
                <a:solidFill>
                  <a:srgbClr val="FFFFFF"/>
                </a:solidFill>
              </a:rPr>
              <a:t>, </a:t>
            </a:r>
            <a:r>
              <a:rPr sz="950" b="0" i="0" err="1">
                <a:solidFill>
                  <a:srgbClr val="FFFFFF"/>
                </a:solidFill>
              </a:rPr>
              <a:t>но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ближе</a:t>
            </a:r>
            <a:r>
              <a:rPr sz="950" b="0" i="0">
                <a:solidFill>
                  <a:srgbClr val="FFFFFF"/>
                </a:solidFill>
              </a:rPr>
              <a:t> 0.25 </a:t>
            </a:r>
            <a:r>
              <a:rPr sz="950" b="0" i="0" err="1">
                <a:solidFill>
                  <a:srgbClr val="FFFFFF"/>
                </a:solidFill>
              </a:rPr>
              <a:t>м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к</a:t>
            </a:r>
            <a:r>
              <a:rPr sz="950" b="0" i="0">
                <a:solidFill>
                  <a:srgbClr val="FFFFFF"/>
                </a:solidFill>
              </a:rPr>
              <a:t> </a:t>
            </a:r>
            <a:r>
              <a:rPr sz="950" b="0" i="0" err="1">
                <a:solidFill>
                  <a:srgbClr val="FFFFFF"/>
                </a:solidFill>
              </a:rPr>
              <a:t>контуру</a:t>
            </a:r>
            <a:endParaRPr sz="950" b="0" i="0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95160" y="5431536"/>
            <a:ext cx="47548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96328" y="5468112"/>
            <a:ext cx="4389120" cy="64008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20978"/>
                </a:solidFill>
              </a:rPr>
              <a:t>CLEAR</a:t>
            </a:r>
          </a:p>
          <a:p>
            <a:pPr algn="l">
              <a:spcAft>
                <a:spcPts val="0"/>
              </a:spcAft>
            </a:pPr>
            <a:r>
              <a:rPr sz="950" b="0" i="0" err="1">
                <a:solidFill>
                  <a:srgbClr val="520978"/>
                </a:solidFill>
              </a:rPr>
              <a:t>подтверждённых</a:t>
            </a:r>
            <a:r>
              <a:rPr sz="950" b="0" i="0">
                <a:solidFill>
                  <a:srgbClr val="520978"/>
                </a:solidFill>
              </a:rPr>
              <a:t> </a:t>
            </a:r>
            <a:r>
              <a:rPr sz="950" b="0" i="0" err="1">
                <a:solidFill>
                  <a:srgbClr val="520978"/>
                </a:solidFill>
              </a:rPr>
              <a:t>объектов</a:t>
            </a:r>
            <a:r>
              <a:rPr sz="950" b="0" i="0">
                <a:solidFill>
                  <a:srgbClr val="520978"/>
                </a:solidFill>
              </a:rPr>
              <a:t> </a:t>
            </a:r>
            <a:r>
              <a:rPr sz="950" b="0" i="0" err="1">
                <a:solidFill>
                  <a:srgbClr val="520978"/>
                </a:solidFill>
              </a:rPr>
              <a:t>нет</a:t>
            </a:r>
            <a:r>
              <a:rPr sz="950" b="0" i="0">
                <a:solidFill>
                  <a:srgbClr val="520978"/>
                </a:solidFill>
              </a:rPr>
              <a:t> — </a:t>
            </a:r>
            <a:r>
              <a:rPr sz="950" b="0" i="0" err="1">
                <a:solidFill>
                  <a:srgbClr val="520978"/>
                </a:solidFill>
              </a:rPr>
              <a:t>путь</a:t>
            </a:r>
            <a:r>
              <a:rPr sz="950" b="0" i="0">
                <a:solidFill>
                  <a:srgbClr val="520978"/>
                </a:solidFill>
              </a:rPr>
              <a:t> </a:t>
            </a:r>
            <a:r>
              <a:rPr sz="950" b="0" i="0" err="1">
                <a:solidFill>
                  <a:srgbClr val="520978"/>
                </a:solidFill>
              </a:rPr>
              <a:t>свободен</a:t>
            </a:r>
            <a:endParaRPr sz="950" b="0" i="0">
              <a:solidFill>
                <a:srgbClr val="520978"/>
              </a:solidFill>
            </a:endParaRPr>
          </a:p>
        </p:txBody>
      </p:sp>
      <p:sp>
        <p:nvSpPr>
          <p:cNvPr id="17" name="Номер слайда 35">
            <a:extLst>
              <a:ext uri="{FF2B5EF4-FFF2-40B4-BE49-F238E27FC236}">
                <a16:creationId xmlns:a16="http://schemas.microsoft.com/office/drawing/2014/main" id="{5F7A6A68-4404-9C35-7E77-3611F9BFB3B7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12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2CEBC3-55B3-BC97-82C7-1B6DFE32066C}"/>
              </a:ext>
            </a:extLst>
          </p:cNvPr>
          <p:cNvSpPr/>
          <p:nvPr/>
        </p:nvSpPr>
        <p:spPr>
          <a:xfrm>
            <a:off x="347472" y="320040"/>
            <a:ext cx="6583680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РЕЗУЛЬТАТЫ НА РЕАЛЬНЫХ ЗАПИСЯХ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9C096E-3EE8-CEB4-61C8-0B919EDF7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033554"/>
              </p:ext>
            </p:extLst>
          </p:nvPr>
        </p:nvGraphicFramePr>
        <p:xfrm>
          <a:off x="411480" y="1280160"/>
          <a:ext cx="11338560" cy="40599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 err="1">
                          <a:solidFill>
                            <a:srgbClr val="FFFFFF"/>
                          </a:solidFill>
                        </a:rPr>
                        <a:t>Сценарий</a:t>
                      </a:r>
                      <a:endParaRPr sz="1100" b="1" i="0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Препятствие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Рабочая зона
D ≤ 70 м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Ложные
CRITICAL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Дальний горизонт
135 ± 10 м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Особенности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00" b="1" i="0" err="1">
                          <a:solidFill>
                            <a:srgbClr val="1C1D22"/>
                          </a:solidFill>
                        </a:rPr>
                        <a:t>doubleT_obstacle</a:t>
                      </a:r>
                      <a:endParaRPr sz="1100" b="1" i="0">
                        <a:solidFill>
                          <a:srgbClr val="1C1D22"/>
                        </a:solidFill>
                      </a:endParaRP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ЕСТЬ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0053"/>
                          </a:solidFill>
                        </a:rPr>
                        <a:t>ЭКСТРЕННОЕ
ТОРМОЖЕНИЕ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D6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WARNING, 76–107 м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Препятствие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на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ходовом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пути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стабильно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захватывается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на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17.5–35.0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м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и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удерживается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трекером</a:t>
                      </a:r>
                      <a:endParaRPr sz="1100" b="0" i="0">
                        <a:solidFill>
                          <a:srgbClr val="1C1D22"/>
                        </a:solidFill>
                      </a:endParaRP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</a:rPr>
                        <a:t>doubleT_platform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нет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7A45"/>
                          </a:solidFill>
                        </a:rPr>
                        <a:t>ПУТЬ СВОБОДЕН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WARNING в 50–80 % кадров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Платформа отсечена вырезом габарита; в повороте ось на 135 м касается стены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</a:rPr>
                        <a:t>roundT_doubleT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нет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7A45"/>
                          </a:solidFill>
                        </a:rPr>
                        <a:t>ПУТЬ СВОБОДЕН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WARNING в ~50 % кадров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Переход в двухпутный раструб, экстраполяция оси в повороте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1D22"/>
                          </a:solidFill>
                        </a:rPr>
                        <a:t>roundT_pressureGate_roundT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нет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A15C00"/>
                          </a:solidFill>
                        </a:rPr>
                        <a:t>ПРЕДУПРЕЖДЕНИЕ
18.4 м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EF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INFO / CLEAR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Гермозатвор в кривой R ≈ 200 м, зазор до портала 5–10 см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00" b="1" i="0" err="1">
                          <a:solidFill>
                            <a:srgbClr val="1C1D22"/>
                          </a:solidFill>
                        </a:rPr>
                        <a:t>squareT_platform_squareT_switch</a:t>
                      </a:r>
                      <a:endParaRPr sz="1100" b="1" i="0">
                        <a:solidFill>
                          <a:srgbClr val="1C1D22"/>
                        </a:solidFill>
                      </a:endParaRP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нет</a:t>
                      </a:r>
                      <a:endParaRPr sz="1100" b="0" i="0">
                        <a:solidFill>
                          <a:srgbClr val="1C1D22"/>
                        </a:solidFill>
                      </a:endParaRP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E7A45"/>
                          </a:solidFill>
                        </a:rPr>
                        <a:t>ПУТЬ СВОБОДЕН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CLEAR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Стрелочный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перевод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и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платформа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: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крестовины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отсекаются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зоной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v &lt; 0.12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м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и</a:t>
                      </a:r>
                      <a:r>
                        <a:rPr sz="1100" b="0" i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100" b="0" i="0" err="1">
                          <a:solidFill>
                            <a:srgbClr val="1C1D22"/>
                          </a:solidFill>
                        </a:rPr>
                        <a:t>трекером</a:t>
                      </a:r>
                      <a:endParaRPr sz="1100" b="0" i="0">
                        <a:solidFill>
                          <a:srgbClr val="1C1D22"/>
                        </a:solidFill>
                      </a:endParaRP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17A5942A-93A4-0F7C-4379-B973CED4E0E9}"/>
              </a:ext>
            </a:extLst>
          </p:cNvPr>
          <p:cNvGrpSpPr/>
          <p:nvPr/>
        </p:nvGrpSpPr>
        <p:grpSpPr>
          <a:xfrm>
            <a:off x="411480" y="5609897"/>
            <a:ext cx="2849692" cy="713232"/>
            <a:chOff x="411480" y="5609897"/>
            <a:chExt cx="2849692" cy="713232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1DF2325-5FE4-D6B6-D014-D4AC9814C114}"/>
                </a:ext>
              </a:extLst>
            </p:cNvPr>
            <p:cNvSpPr/>
            <p:nvPr/>
          </p:nvSpPr>
          <p:spPr>
            <a:xfrm>
              <a:off x="411480" y="5609897"/>
              <a:ext cx="2626010" cy="713232"/>
            </a:xfrm>
            <a:prstGeom prst="roundRect">
              <a:avLst>
                <a:gd name="adj" fmla="val 17948"/>
              </a:avLst>
            </a:prstGeom>
            <a:solidFill>
              <a:srgbClr val="52097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7C1A6B-F55D-A537-1FD0-8A71E811BB92}"/>
                </a:ext>
              </a:extLst>
            </p:cNvPr>
            <p:cNvSpPr txBox="1"/>
            <p:nvPr/>
          </p:nvSpPr>
          <p:spPr>
            <a:xfrm>
              <a:off x="624255" y="5623560"/>
              <a:ext cx="1371600" cy="676656"/>
            </a:xfrm>
            <a:prstGeom prst="rect">
              <a:avLst/>
            </a:prstGeom>
            <a:noFill/>
          </p:spPr>
          <p:txBody>
            <a:bodyPr wrap="square" lIns="0" tIns="18288" rIns="0" bIns="18288" anchor="ctr"/>
            <a:lstStyle/>
            <a:p>
              <a:pPr algn="l">
                <a:spcAft>
                  <a:spcPts val="400"/>
                </a:spcAft>
              </a:pPr>
              <a:r>
                <a:rPr sz="1800" b="1" i="0">
                  <a:solidFill>
                    <a:srgbClr val="FFFFFF"/>
                  </a:solidFill>
                </a:rPr>
                <a:t>5 / 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0FFE1F-B959-016A-F6A3-ADECA4F8F20A}"/>
                </a:ext>
              </a:extLst>
            </p:cNvPr>
            <p:cNvSpPr txBox="1"/>
            <p:nvPr/>
          </p:nvSpPr>
          <p:spPr>
            <a:xfrm>
              <a:off x="1249492" y="5614416"/>
              <a:ext cx="2011680" cy="676656"/>
            </a:xfrm>
            <a:prstGeom prst="rect">
              <a:avLst/>
            </a:prstGeom>
            <a:noFill/>
          </p:spPr>
          <p:txBody>
            <a:bodyPr wrap="square" lIns="0" tIns="18288" rIns="0" bIns="18288" anchor="ctr"/>
            <a:lstStyle/>
            <a:p>
              <a:pPr algn="l">
                <a:lnSpc>
                  <a:spcPct val="100000"/>
                </a:lnSpc>
                <a:spcAft>
                  <a:spcPts val="400"/>
                </a:spcAft>
              </a:pPr>
              <a:r>
                <a:rPr sz="950" b="0" i="0" err="1">
                  <a:solidFill>
                    <a:schemeClr val="bg1"/>
                  </a:solidFill>
                </a:rPr>
                <a:t>сценариев</a:t>
              </a:r>
              <a:r>
                <a:rPr sz="950" b="0" i="0">
                  <a:solidFill>
                    <a:schemeClr val="bg1"/>
                  </a:solidFill>
                </a:rPr>
                <a:t> </a:t>
              </a:r>
              <a:r>
                <a:rPr sz="950" b="0" i="0" err="1">
                  <a:solidFill>
                    <a:schemeClr val="bg1"/>
                  </a:solidFill>
                </a:rPr>
                <a:t>без</a:t>
              </a:r>
              <a:r>
                <a:rPr sz="950" b="0" i="0">
                  <a:solidFill>
                    <a:schemeClr val="bg1"/>
                  </a:solidFill>
                </a:rPr>
                <a:t> </a:t>
              </a:r>
              <a:r>
                <a:rPr sz="950" b="0" i="0" err="1">
                  <a:solidFill>
                    <a:schemeClr val="bg1"/>
                  </a:solidFill>
                </a:rPr>
                <a:t>ложных</a:t>
              </a:r>
              <a:r>
                <a:rPr sz="950" b="0" i="0">
                  <a:solidFill>
                    <a:schemeClr val="bg1"/>
                  </a:solidFill>
                </a:rPr>
                <a:t> </a:t>
              </a:r>
              <a:r>
                <a:rPr sz="950" b="1" i="0" err="1">
                  <a:solidFill>
                    <a:schemeClr val="bg1"/>
                  </a:solidFill>
                </a:rPr>
                <a:t>экстренных</a:t>
              </a:r>
              <a:r>
                <a:rPr sz="950" b="1" i="0">
                  <a:solidFill>
                    <a:schemeClr val="bg1"/>
                  </a:solidFill>
                </a:rPr>
                <a:t> </a:t>
              </a:r>
              <a:r>
                <a:rPr sz="950" b="1" i="0" err="1">
                  <a:solidFill>
                    <a:schemeClr val="bg1"/>
                  </a:solidFill>
                </a:rPr>
                <a:t>торможений</a:t>
              </a:r>
              <a:endParaRPr sz="950" b="1" i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61612DD-8B16-15D2-F5B4-8955695B5947}"/>
              </a:ext>
            </a:extLst>
          </p:cNvPr>
          <p:cNvSpPr txBox="1"/>
          <p:nvPr/>
        </p:nvSpPr>
        <p:spPr>
          <a:xfrm>
            <a:off x="8526780" y="5614416"/>
            <a:ext cx="1371600" cy="676656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</a:rPr>
              <a:t>0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4C37F8-DB72-9E34-4B41-51D8A816E66F}"/>
              </a:ext>
            </a:extLst>
          </p:cNvPr>
          <p:cNvGrpSpPr/>
          <p:nvPr/>
        </p:nvGrpSpPr>
        <p:grpSpPr>
          <a:xfrm>
            <a:off x="3362058" y="5605272"/>
            <a:ext cx="2849692" cy="713232"/>
            <a:chOff x="411480" y="5609897"/>
            <a:chExt cx="2849692" cy="71323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D6960CD-8EC9-E7A2-3EEF-688C3C01D50D}"/>
                </a:ext>
              </a:extLst>
            </p:cNvPr>
            <p:cNvSpPr/>
            <p:nvPr/>
          </p:nvSpPr>
          <p:spPr>
            <a:xfrm>
              <a:off x="411480" y="5609897"/>
              <a:ext cx="2626010" cy="713232"/>
            </a:xfrm>
            <a:prstGeom prst="roundRect">
              <a:avLst>
                <a:gd name="adj" fmla="val 17948"/>
              </a:avLst>
            </a:prstGeom>
            <a:solidFill>
              <a:srgbClr val="52097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50CB08-2CE2-E276-21A2-934D298271E9}"/>
                </a:ext>
              </a:extLst>
            </p:cNvPr>
            <p:cNvSpPr txBox="1"/>
            <p:nvPr/>
          </p:nvSpPr>
          <p:spPr>
            <a:xfrm>
              <a:off x="624255" y="5623560"/>
              <a:ext cx="1371600" cy="676656"/>
            </a:xfrm>
            <a:prstGeom prst="rect">
              <a:avLst/>
            </a:prstGeom>
            <a:noFill/>
          </p:spPr>
          <p:txBody>
            <a:bodyPr wrap="square" lIns="0" tIns="18288" rIns="0" bIns="18288" anchor="ctr"/>
            <a:lstStyle/>
            <a:p>
              <a:pPr algn="l">
                <a:spcAft>
                  <a:spcPts val="400"/>
                </a:spcAft>
              </a:pPr>
              <a:r>
                <a:rPr lang="en-US" b="1">
                  <a:solidFill>
                    <a:srgbClr val="FFFFFF"/>
                  </a:solidFill>
                </a:rPr>
                <a:t>0</a:t>
              </a:r>
              <a:endParaRPr sz="1800" b="1" i="0">
                <a:solidFill>
                  <a:srgbClr val="FFFFFF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0E2067-5BA1-F16A-BE6D-FD7144F4FDF1}"/>
                </a:ext>
              </a:extLst>
            </p:cNvPr>
            <p:cNvSpPr txBox="1"/>
            <p:nvPr/>
          </p:nvSpPr>
          <p:spPr>
            <a:xfrm>
              <a:off x="1249492" y="5614416"/>
              <a:ext cx="2011680" cy="676656"/>
            </a:xfrm>
            <a:prstGeom prst="rect">
              <a:avLst/>
            </a:prstGeom>
            <a:noFill/>
          </p:spPr>
          <p:txBody>
            <a:bodyPr wrap="square" lIns="0" tIns="18288" rIns="0" bIns="18288" anchor="ctr"/>
            <a:lstStyle/>
            <a:p>
              <a:pPr algn="l">
                <a:lnSpc>
                  <a:spcPct val="100000"/>
                </a:lnSpc>
                <a:spcAft>
                  <a:spcPts val="400"/>
                </a:spcAft>
              </a:pPr>
              <a:r>
                <a:rPr lang="ru-RU" sz="950" b="0" i="0">
                  <a:solidFill>
                    <a:schemeClr val="bg1"/>
                  </a:solidFill>
                </a:rPr>
                <a:t>ложных </a:t>
              </a:r>
              <a:r>
                <a:rPr lang="en-GB" sz="950" b="0" i="0">
                  <a:solidFill>
                    <a:schemeClr val="bg1"/>
                  </a:solidFill>
                </a:rPr>
                <a:t>CRITICAL </a:t>
              </a:r>
              <a:r>
                <a:rPr lang="ru-RU" sz="950" b="0" i="0">
                  <a:solidFill>
                    <a:schemeClr val="bg1"/>
                  </a:solidFill>
                </a:rPr>
                <a:t>в зоне торможения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7418CE-DBE5-499A-C936-0EB3180CA142}"/>
              </a:ext>
            </a:extLst>
          </p:cNvPr>
          <p:cNvGrpSpPr/>
          <p:nvPr/>
        </p:nvGrpSpPr>
        <p:grpSpPr>
          <a:xfrm>
            <a:off x="6209726" y="5605272"/>
            <a:ext cx="2849692" cy="713232"/>
            <a:chOff x="411480" y="5609897"/>
            <a:chExt cx="2849692" cy="713232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C642FD8F-B9E8-4316-0E18-5331F1FC6381}"/>
                </a:ext>
              </a:extLst>
            </p:cNvPr>
            <p:cNvSpPr/>
            <p:nvPr/>
          </p:nvSpPr>
          <p:spPr>
            <a:xfrm>
              <a:off x="411480" y="5609897"/>
              <a:ext cx="2626010" cy="713232"/>
            </a:xfrm>
            <a:prstGeom prst="roundRect">
              <a:avLst>
                <a:gd name="adj" fmla="val 17948"/>
              </a:avLst>
            </a:prstGeom>
            <a:solidFill>
              <a:srgbClr val="FF00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DE32D4-5F2F-61A0-2161-E8ADA823E71F}"/>
                </a:ext>
              </a:extLst>
            </p:cNvPr>
            <p:cNvSpPr txBox="1"/>
            <p:nvPr/>
          </p:nvSpPr>
          <p:spPr>
            <a:xfrm>
              <a:off x="516527" y="5633790"/>
              <a:ext cx="1371600" cy="676656"/>
            </a:xfrm>
            <a:prstGeom prst="rect">
              <a:avLst/>
            </a:prstGeom>
            <a:noFill/>
          </p:spPr>
          <p:txBody>
            <a:bodyPr wrap="square" lIns="0" tIns="18288" rIns="0" bIns="18288" anchor="ctr"/>
            <a:lstStyle/>
            <a:p>
              <a:pPr algn="l">
                <a:spcAft>
                  <a:spcPts val="400"/>
                </a:spcAft>
              </a:pPr>
              <a:r>
                <a:rPr lang="en-US" b="1">
                  <a:solidFill>
                    <a:srgbClr val="FFFFFF"/>
                  </a:solidFill>
                </a:rPr>
                <a:t>~50%</a:t>
              </a:r>
              <a:endParaRPr sz="1800" b="1" i="0">
                <a:solidFill>
                  <a:srgbClr val="FFFFFF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D15923-6ADA-E5AC-E94A-352193A74F06}"/>
                </a:ext>
              </a:extLst>
            </p:cNvPr>
            <p:cNvSpPr txBox="1"/>
            <p:nvPr/>
          </p:nvSpPr>
          <p:spPr>
            <a:xfrm>
              <a:off x="1249492" y="5614416"/>
              <a:ext cx="2011680" cy="676656"/>
            </a:xfrm>
            <a:prstGeom prst="rect">
              <a:avLst/>
            </a:prstGeom>
            <a:noFill/>
          </p:spPr>
          <p:txBody>
            <a:bodyPr wrap="square" lIns="0" tIns="18288" rIns="0" bIns="18288" anchor="ctr"/>
            <a:lstStyle/>
            <a:p>
              <a:pPr algn="l">
                <a:lnSpc>
                  <a:spcPct val="100000"/>
                </a:lnSpc>
                <a:spcAft>
                  <a:spcPts val="400"/>
                </a:spcAft>
              </a:pPr>
              <a:r>
                <a:rPr sz="950" b="0" i="0" dirty="0" err="1">
                  <a:solidFill>
                    <a:schemeClr val="bg1"/>
                  </a:solidFill>
                </a:rPr>
                <a:t>сцен</a:t>
              </a:r>
              <a:r>
                <a:rPr lang="ru-RU" sz="950" b="0" i="0" dirty="0" err="1">
                  <a:solidFill>
                    <a:schemeClr val="bg1"/>
                  </a:solidFill>
                </a:rPr>
                <a:t>ариев</a:t>
              </a:r>
              <a:r>
                <a:rPr lang="en-DE" sz="950" b="0" i="0" dirty="0">
                  <a:solidFill>
                    <a:schemeClr val="bg1"/>
                  </a:solidFill>
                </a:rPr>
                <a:t> </a:t>
              </a:r>
              <a:r>
                <a:rPr lang="en-US" sz="950" dirty="0">
                  <a:solidFill>
                    <a:schemeClr val="bg1"/>
                  </a:solidFill>
                </a:rPr>
                <a:t>c </a:t>
              </a:r>
              <a:r>
                <a:rPr lang="ru-RU" sz="950" dirty="0">
                  <a:solidFill>
                    <a:schemeClr val="bg1"/>
                  </a:solidFill>
                </a:rPr>
                <a:t>ложными на дальнем рас</a:t>
              </a:r>
              <a:r>
                <a:rPr lang="en-US" sz="950" dirty="0">
                  <a:solidFill>
                    <a:schemeClr val="bg1"/>
                  </a:solidFill>
                </a:rPr>
                <a:t>c</a:t>
              </a:r>
              <a:r>
                <a:rPr lang="ru-RU" sz="950" dirty="0" err="1">
                  <a:solidFill>
                    <a:schemeClr val="bg1"/>
                  </a:solidFill>
                </a:rPr>
                <a:t>тоянии</a:t>
              </a:r>
              <a:r>
                <a:rPr lang="ru-RU" sz="950" dirty="0">
                  <a:solidFill>
                    <a:schemeClr val="bg1"/>
                  </a:solidFill>
                </a:rPr>
                <a:t> </a:t>
              </a:r>
              <a:r>
                <a:rPr lang="en-US" sz="950" dirty="0">
                  <a:solidFill>
                    <a:schemeClr val="bg1"/>
                  </a:solidFill>
                </a:rPr>
                <a:t>&gt;130</a:t>
              </a:r>
              <a:r>
                <a:rPr lang="ru-RU" sz="950" dirty="0">
                  <a:solidFill>
                    <a:schemeClr val="bg1"/>
                  </a:solidFill>
                </a:rPr>
                <a:t>м</a:t>
              </a:r>
              <a:endParaRPr sz="950" b="1" i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2FC1E0-A758-6B41-60A6-8D01109118DC}"/>
              </a:ext>
            </a:extLst>
          </p:cNvPr>
          <p:cNvGrpSpPr/>
          <p:nvPr/>
        </p:nvGrpSpPr>
        <p:grpSpPr>
          <a:xfrm>
            <a:off x="9057394" y="5599600"/>
            <a:ext cx="2794071" cy="713232"/>
            <a:chOff x="411480" y="5609897"/>
            <a:chExt cx="2794071" cy="713232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B667DC66-9643-74F7-CC04-45AB663D7BD4}"/>
                </a:ext>
              </a:extLst>
            </p:cNvPr>
            <p:cNvSpPr/>
            <p:nvPr/>
          </p:nvSpPr>
          <p:spPr>
            <a:xfrm>
              <a:off x="411480" y="5609897"/>
              <a:ext cx="2626010" cy="713232"/>
            </a:xfrm>
            <a:prstGeom prst="roundRect">
              <a:avLst>
                <a:gd name="adj" fmla="val 17948"/>
              </a:avLst>
            </a:prstGeom>
            <a:solidFill>
              <a:srgbClr val="52097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86B5E9-8631-9FF6-6A8C-C2CD73656DB1}"/>
                </a:ext>
              </a:extLst>
            </p:cNvPr>
            <p:cNvSpPr txBox="1"/>
            <p:nvPr/>
          </p:nvSpPr>
          <p:spPr>
            <a:xfrm>
              <a:off x="563692" y="5615569"/>
              <a:ext cx="1371600" cy="676656"/>
            </a:xfrm>
            <a:prstGeom prst="rect">
              <a:avLst/>
            </a:prstGeom>
            <a:noFill/>
          </p:spPr>
          <p:txBody>
            <a:bodyPr wrap="square" lIns="0" tIns="18288" rIns="0" bIns="18288" anchor="ctr"/>
            <a:lstStyle/>
            <a:p>
              <a:pPr>
                <a:spcAft>
                  <a:spcPts val="400"/>
                </a:spcAft>
              </a:pPr>
              <a:r>
                <a:rPr lang="ru-RU" sz="1800" b="1" i="0" dirty="0">
                  <a:solidFill>
                    <a:srgbClr val="FFFFFF"/>
                  </a:solidFill>
                </a:rPr>
                <a:t>17.5–35 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0D75DC1-7FC7-DE94-F205-97A5FCFD5237}"/>
                </a:ext>
              </a:extLst>
            </p:cNvPr>
            <p:cNvSpPr txBox="1"/>
            <p:nvPr/>
          </p:nvSpPr>
          <p:spPr>
            <a:xfrm>
              <a:off x="1724485" y="5615569"/>
              <a:ext cx="1481066" cy="676656"/>
            </a:xfrm>
            <a:prstGeom prst="rect">
              <a:avLst/>
            </a:prstGeom>
            <a:noFill/>
          </p:spPr>
          <p:txBody>
            <a:bodyPr wrap="square" lIns="0" tIns="18288" rIns="0" bIns="18288" anchor="ctr"/>
            <a:lstStyle/>
            <a:p>
              <a:pPr algn="l">
                <a:lnSpc>
                  <a:spcPct val="100000"/>
                </a:lnSpc>
                <a:spcAft>
                  <a:spcPts val="400"/>
                </a:spcAft>
              </a:pPr>
              <a:r>
                <a:rPr lang="ru-RU" sz="950" b="0" i="0" dirty="0">
                  <a:solidFill>
                    <a:schemeClr val="bg1"/>
                  </a:solidFill>
                </a:rPr>
                <a:t>устойчивый захват реального препятствия</a:t>
              </a:r>
            </a:p>
          </p:txBody>
        </p:sp>
      </p:grpSp>
      <p:sp>
        <p:nvSpPr>
          <p:cNvPr id="33" name="Номер слайда 35">
            <a:extLst>
              <a:ext uri="{FF2B5EF4-FFF2-40B4-BE49-F238E27FC236}">
                <a16:creationId xmlns:a16="http://schemas.microsoft.com/office/drawing/2014/main" id="{EF0CF789-DF16-B867-71BA-12507F7F2691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13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6361672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FFFFFF"/>
                </a:solidFill>
              </a:rPr>
              <a:t>ПОДАВЛЕНИЕ ЛОЖНЫХ СРАБАТЫВАНИЙ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5532120" cy="237744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329184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400" b="1" i="0" dirty="0" err="1">
                <a:solidFill>
                  <a:srgbClr val="520978"/>
                </a:solidFill>
              </a:rPr>
              <a:t>Платформы</a:t>
            </a:r>
            <a:r>
              <a:rPr sz="1400" b="1" i="0" dirty="0">
                <a:solidFill>
                  <a:srgbClr val="520978"/>
                </a:solidFill>
              </a:rPr>
              <a:t> </a:t>
            </a:r>
            <a:r>
              <a:rPr sz="1400" b="1" i="0" dirty="0" err="1">
                <a:solidFill>
                  <a:srgbClr val="520978"/>
                </a:solidFill>
              </a:rPr>
              <a:t>станций</a:t>
            </a:r>
            <a:endParaRPr sz="1400" b="1" i="0" dirty="0">
              <a:solidFill>
                <a:srgbClr val="52097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37560" y="1380744"/>
            <a:ext cx="237744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A5470"/>
                </a:solidFill>
              </a:rPr>
              <a:t>doubleT_platform, squareT_platform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5120640" cy="12801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err="1">
                <a:solidFill>
                  <a:srgbClr val="1C1D22"/>
                </a:solidFill>
              </a:rPr>
              <a:t>Причина</a:t>
            </a:r>
            <a:r>
              <a:rPr sz="1200" b="1" i="0">
                <a:solidFill>
                  <a:srgbClr val="1C1D22"/>
                </a:solidFill>
              </a:rPr>
              <a:t>: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Кромка</a:t>
            </a:r>
            <a:r>
              <a:rPr sz="1200" b="0" i="0">
                <a:solidFill>
                  <a:srgbClr val="1C1D22"/>
                </a:solidFill>
              </a:rPr>
              <a:t> — </a:t>
            </a:r>
            <a:r>
              <a:rPr sz="1200" b="0" i="0" err="1">
                <a:solidFill>
                  <a:srgbClr val="1C1D22"/>
                </a:solidFill>
              </a:rPr>
              <a:t>в</a:t>
            </a:r>
            <a:r>
              <a:rPr sz="1200" b="0" i="0">
                <a:solidFill>
                  <a:srgbClr val="1C1D22"/>
                </a:solidFill>
              </a:rPr>
              <a:t> 1.42 </a:t>
            </a:r>
            <a:r>
              <a:rPr sz="1200" b="0" i="0" err="1">
                <a:solidFill>
                  <a:srgbClr val="1C1D22"/>
                </a:solidFill>
              </a:rPr>
              <a:t>м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от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оси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на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высоте</a:t>
            </a:r>
            <a:r>
              <a:rPr sz="1200" b="0" i="0">
                <a:solidFill>
                  <a:srgbClr val="1C1D22"/>
                </a:solidFill>
              </a:rPr>
              <a:t> 1.10–1.30 </a:t>
            </a:r>
            <a:r>
              <a:rPr sz="1200" b="0" i="0" err="1">
                <a:solidFill>
                  <a:srgbClr val="1C1D22"/>
                </a:solidFill>
              </a:rPr>
              <a:t>м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над</a:t>
            </a:r>
            <a:r>
              <a:rPr sz="1200" b="0" i="0">
                <a:solidFill>
                  <a:srgbClr val="1C1D22"/>
                </a:solidFill>
              </a:rPr>
              <a:t> УГР.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err="1">
                <a:solidFill>
                  <a:srgbClr val="1C1D22"/>
                </a:solidFill>
              </a:rPr>
              <a:t>Метод</a:t>
            </a:r>
            <a:r>
              <a:rPr sz="1200" b="1" i="0">
                <a:solidFill>
                  <a:srgbClr val="1C1D22"/>
                </a:solidFill>
              </a:rPr>
              <a:t>: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Вырез</a:t>
            </a:r>
            <a:r>
              <a:rPr sz="1200" b="0" i="0">
                <a:solidFill>
                  <a:srgbClr val="1C1D22"/>
                </a:solidFill>
              </a:rPr>
              <a:t> W = 1.30 </a:t>
            </a:r>
            <a:r>
              <a:rPr sz="1200" b="0" i="0" err="1">
                <a:solidFill>
                  <a:srgbClr val="1C1D22"/>
                </a:solidFill>
              </a:rPr>
              <a:t>м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в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зоне</a:t>
            </a:r>
            <a:r>
              <a:rPr sz="1200" b="0" i="0">
                <a:solidFill>
                  <a:srgbClr val="1C1D22"/>
                </a:solidFill>
              </a:rPr>
              <a:t> v 0.45–1.25 </a:t>
            </a:r>
            <a:r>
              <a:rPr sz="1200" b="0" i="0" err="1">
                <a:solidFill>
                  <a:srgbClr val="1C1D22"/>
                </a:solidFill>
              </a:rPr>
              <a:t>м</a:t>
            </a:r>
            <a:r>
              <a:rPr sz="1200" b="0" i="0">
                <a:solidFill>
                  <a:srgbClr val="1C1D22"/>
                </a:solidFill>
              </a:rPr>
              <a:t> + </a:t>
            </a:r>
            <a:r>
              <a:rPr sz="1200" b="0" i="0" err="1">
                <a:solidFill>
                  <a:srgbClr val="1C1D22"/>
                </a:solidFill>
              </a:rPr>
              <a:t>маска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платформы</a:t>
            </a:r>
            <a:r>
              <a:rPr sz="1200" b="0" i="0">
                <a:solidFill>
                  <a:srgbClr val="1C1D22"/>
                </a:solidFill>
              </a:rPr>
              <a:t>: </a:t>
            </a:r>
            <a:r>
              <a:rPr sz="1200" b="0" i="0" err="1">
                <a:solidFill>
                  <a:srgbClr val="1C1D22"/>
                </a:solidFill>
              </a:rPr>
              <a:t>кромка</a:t>
            </a:r>
            <a:r>
              <a:rPr sz="1200" b="0" i="0">
                <a:solidFill>
                  <a:srgbClr val="1C1D22"/>
                </a:solidFill>
              </a:rPr>
              <a:t> </a:t>
            </a:r>
            <a:r>
              <a:rPr sz="1200" b="0" i="0" err="1">
                <a:solidFill>
                  <a:srgbClr val="1C1D22"/>
                </a:solidFill>
              </a:rPr>
              <a:t>получает</a:t>
            </a:r>
            <a:r>
              <a:rPr sz="1200" b="0" i="0">
                <a:solidFill>
                  <a:srgbClr val="1C1D22"/>
                </a:solidFill>
              </a:rPr>
              <a:t> SDF ≈ +0.12 </a:t>
            </a:r>
            <a:r>
              <a:rPr sz="1200" b="0" i="0" err="1">
                <a:solidFill>
                  <a:srgbClr val="1C1D22"/>
                </a:solidFill>
              </a:rPr>
              <a:t>м</a:t>
            </a:r>
            <a:r>
              <a:rPr sz="1200" b="0" i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074920" cy="384048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20978"/>
                </a:solidFill>
              </a:rPr>
              <a:t>0 </a:t>
            </a:r>
            <a:r>
              <a:rPr sz="1200" b="1" i="0" err="1">
                <a:solidFill>
                  <a:srgbClr val="520978"/>
                </a:solidFill>
              </a:rPr>
              <a:t>ложных</a:t>
            </a:r>
            <a:r>
              <a:rPr sz="1200" b="1" i="0">
                <a:solidFill>
                  <a:srgbClr val="520978"/>
                </a:solidFill>
              </a:rPr>
              <a:t> </a:t>
            </a:r>
            <a:r>
              <a:rPr sz="1200" b="1" i="0" err="1">
                <a:solidFill>
                  <a:srgbClr val="520978"/>
                </a:solidFill>
              </a:rPr>
              <a:t>тревог</a:t>
            </a:r>
            <a:r>
              <a:rPr sz="1200" b="1" i="0">
                <a:solidFill>
                  <a:srgbClr val="520978"/>
                </a:solidFill>
              </a:rPr>
              <a:t> </a:t>
            </a:r>
            <a:r>
              <a:rPr sz="1200" b="1" i="0" err="1">
                <a:solidFill>
                  <a:srgbClr val="520978"/>
                </a:solidFill>
              </a:rPr>
              <a:t>в</a:t>
            </a:r>
            <a:r>
              <a:rPr sz="1200" b="1" i="0">
                <a:solidFill>
                  <a:srgbClr val="520978"/>
                </a:solidFill>
              </a:rPr>
              <a:t> </a:t>
            </a:r>
            <a:r>
              <a:rPr sz="1200" b="1" i="0" err="1">
                <a:solidFill>
                  <a:srgbClr val="520978"/>
                </a:solidFill>
              </a:rPr>
              <a:t>зоне</a:t>
            </a:r>
            <a:r>
              <a:rPr sz="1200" b="1" i="0">
                <a:solidFill>
                  <a:srgbClr val="520978"/>
                </a:solidFill>
              </a:rPr>
              <a:t> D ≤ 70 </a:t>
            </a:r>
            <a:r>
              <a:rPr sz="1200" b="1" i="0" err="1">
                <a:solidFill>
                  <a:srgbClr val="520978"/>
                </a:solidFill>
              </a:rPr>
              <a:t>м</a:t>
            </a:r>
            <a:endParaRPr sz="1200" b="1" i="0">
              <a:solidFill>
                <a:srgbClr val="52097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532120" cy="237744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344168"/>
            <a:ext cx="329184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20978"/>
                </a:solidFill>
              </a:rPr>
              <a:t>Стрелочные переводы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380744"/>
            <a:ext cx="237744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A5470"/>
                </a:solidFill>
              </a:rPr>
              <a:t>squareT_…_switch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64792"/>
            <a:ext cx="5120640" cy="12801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C1D22"/>
                </a:solidFill>
              </a:rPr>
              <a:t>Причина:</a:t>
            </a:r>
            <a:r>
              <a:rPr sz="1200" b="0" i="0">
                <a:solidFill>
                  <a:srgbClr val="1C1D22"/>
                </a:solidFill>
              </a:rPr>
              <a:t> Контррельсы, сердечники и усовики крестовин — на уровне головки рельса.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C1D22"/>
                </a:solidFill>
              </a:rPr>
              <a:t>Метод:</a:t>
            </a:r>
            <a:r>
              <a:rPr sz="1200" b="0" i="0">
                <a:solidFill>
                  <a:srgbClr val="1C1D22"/>
                </a:solidFill>
              </a:rPr>
              <a:t> Зона v &lt; 0.12 м вне контроля + подтверждение объекта минимум в 2 кадрах.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63240"/>
            <a:ext cx="5074920" cy="384048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20978"/>
                </a:solidFill>
              </a:rPr>
              <a:t>~10 % сырых срабатываний → 0 подтверждённых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94760"/>
            <a:ext cx="5532120" cy="237744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904488"/>
            <a:ext cx="329184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20978"/>
                </a:solidFill>
              </a:rPr>
              <a:t>Гермозатворы в кривых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941064"/>
            <a:ext cx="237744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A5470"/>
                </a:solidFill>
              </a:rPr>
              <a:t>roundT_pressureGate_roundT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25112"/>
            <a:ext cx="5120640" cy="12801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C1D22"/>
                </a:solidFill>
              </a:rPr>
              <a:t>Причина:</a:t>
            </a:r>
            <a:r>
              <a:rPr sz="1200" b="0" i="0">
                <a:solidFill>
                  <a:srgbClr val="1C1D22"/>
                </a:solidFill>
              </a:rPr>
              <a:t> Портальная рама в 5–10 см от угла вагона, кривая R ≈ 200 м.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C1D22"/>
                </a:solidFill>
              </a:rPr>
              <a:t>Метод:</a:t>
            </a:r>
            <a:r>
              <a:rPr sz="1200" b="0" i="0">
                <a:solidFill>
                  <a:srgbClr val="1C1D22"/>
                </a:solidFill>
              </a:rPr>
              <a:t> Портал попадает в буферную зону у контура — система сообщает о минимальном запасе.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5074920" cy="384048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20978"/>
                </a:solidFill>
              </a:rPr>
              <a:t>штатный WARNING, без экстренного торможения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532120" cy="237744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04488"/>
            <a:ext cx="3291840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20978"/>
                </a:solidFill>
              </a:rPr>
              <a:t>Дальний горизонт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941064"/>
            <a:ext cx="237744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A5470"/>
                </a:solidFill>
              </a:rPr>
              <a:t>D &gt; 80…100 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25112"/>
            <a:ext cx="5120640" cy="12801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C1D22"/>
                </a:solidFill>
              </a:rPr>
              <a:t>Причина:</a:t>
            </a:r>
            <a:r>
              <a:rPr sz="1200" b="0" i="0">
                <a:solidFill>
                  <a:srgbClr val="1C1D22"/>
                </a:solidFill>
              </a:rPr>
              <a:t> Плотность точек ∝ 1/D²; на 135 м луч идёт к рельсам под углом &lt; 0.5° — ось экстраполируется.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C1D22"/>
                </a:solidFill>
              </a:rPr>
              <a:t>Метод:</a:t>
            </a:r>
            <a:r>
              <a:rPr sz="1200" b="0" i="0">
                <a:solidFill>
                  <a:srgbClr val="1C1D22"/>
                </a:solidFill>
              </a:rPr>
              <a:t> За пределами S_brake(V) — только WARNING; экстренное торможение лишь при D ≤ S_brake(V).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623560"/>
            <a:ext cx="5074920" cy="384048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520978"/>
                </a:solidFill>
              </a:rPr>
              <a:t>CRITICAL = 0 </a:t>
            </a:r>
            <a:r>
              <a:rPr sz="1200" b="1" i="0" err="1">
                <a:solidFill>
                  <a:srgbClr val="520978"/>
                </a:solidFill>
              </a:rPr>
              <a:t>во</a:t>
            </a:r>
            <a:r>
              <a:rPr sz="1200" b="1" i="0">
                <a:solidFill>
                  <a:srgbClr val="520978"/>
                </a:solidFill>
              </a:rPr>
              <a:t> </a:t>
            </a:r>
            <a:r>
              <a:rPr sz="1200" b="1" i="0" err="1">
                <a:solidFill>
                  <a:srgbClr val="520978"/>
                </a:solidFill>
              </a:rPr>
              <a:t>всех</a:t>
            </a:r>
            <a:r>
              <a:rPr sz="1200" b="1" i="0">
                <a:solidFill>
                  <a:srgbClr val="520978"/>
                </a:solidFill>
              </a:rPr>
              <a:t> </a:t>
            </a:r>
            <a:r>
              <a:rPr sz="1200" b="1" i="0" err="1">
                <a:solidFill>
                  <a:srgbClr val="520978"/>
                </a:solidFill>
              </a:rPr>
              <a:t>проездах</a:t>
            </a:r>
            <a:r>
              <a:rPr sz="1200" b="1" i="0">
                <a:solidFill>
                  <a:srgbClr val="520978"/>
                </a:solidFill>
              </a:rPr>
              <a:t> </a:t>
            </a:r>
            <a:r>
              <a:rPr sz="1200" b="1" i="0" err="1">
                <a:solidFill>
                  <a:srgbClr val="520978"/>
                </a:solidFill>
              </a:rPr>
              <a:t>без</a:t>
            </a:r>
            <a:r>
              <a:rPr sz="1200" b="1" i="0">
                <a:solidFill>
                  <a:srgbClr val="520978"/>
                </a:solidFill>
              </a:rPr>
              <a:t> </a:t>
            </a:r>
            <a:r>
              <a:rPr sz="1200" b="1" i="0" err="1">
                <a:solidFill>
                  <a:srgbClr val="520978"/>
                </a:solidFill>
              </a:rPr>
              <a:t>препятствий</a:t>
            </a:r>
            <a:endParaRPr sz="1200" b="1" i="0">
              <a:solidFill>
                <a:srgbClr val="520978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11712" y="6355080"/>
            <a:ext cx="557784" cy="3657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20978"/>
                </a:solidFill>
              </a:rPr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CBF874-5023-4ECC-398E-B14DE5823266}"/>
              </a:ext>
            </a:extLst>
          </p:cNvPr>
          <p:cNvSpPr txBox="1"/>
          <p:nvPr/>
        </p:nvSpPr>
        <p:spPr>
          <a:xfrm>
            <a:off x="411480" y="6318504"/>
            <a:ext cx="1133856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lang="ru-RU" sz="1200" b="0" i="0" dirty="0">
                <a:solidFill>
                  <a:schemeClr val="bg1"/>
                </a:solidFill>
              </a:rPr>
              <a:t>Основное количество ложных срабатываний возникает только в качестве предупреждений на далеком </a:t>
            </a:r>
            <a:r>
              <a:rPr lang="en-US" sz="1200" b="0" i="0" dirty="0">
                <a:solidFill>
                  <a:schemeClr val="bg1"/>
                </a:solidFill>
              </a:rPr>
              <a:t>&gt;130</a:t>
            </a:r>
            <a:r>
              <a:rPr lang="ru-RU" sz="1200" b="0" i="0" dirty="0">
                <a:solidFill>
                  <a:schemeClr val="bg1"/>
                </a:solidFill>
              </a:rPr>
              <a:t>м</a:t>
            </a:r>
            <a:r>
              <a:rPr lang="en-US" sz="1200" b="0" i="0" dirty="0">
                <a:solidFill>
                  <a:schemeClr val="bg1"/>
                </a:solidFill>
              </a:rPr>
              <a:t> </a:t>
            </a:r>
            <a:r>
              <a:rPr lang="ru-RU" sz="1200" b="0" i="0" dirty="0" err="1">
                <a:solidFill>
                  <a:schemeClr val="bg1"/>
                </a:solidFill>
              </a:rPr>
              <a:t>растоянии</a:t>
            </a:r>
            <a:r>
              <a:rPr lang="ru-RU" sz="1200" b="0" i="0" dirty="0">
                <a:solidFill>
                  <a:schemeClr val="bg1"/>
                </a:solidFill>
              </a:rPr>
              <a:t> </a:t>
            </a:r>
            <a:endParaRPr sz="1200" b="0" i="0" dirty="0">
              <a:solidFill>
                <a:schemeClr val="bg1"/>
              </a:solidFill>
            </a:endParaRPr>
          </a:p>
        </p:txBody>
      </p:sp>
      <p:sp>
        <p:nvSpPr>
          <p:cNvPr id="25" name="Номер слайда 35">
            <a:extLst>
              <a:ext uri="{FF2B5EF4-FFF2-40B4-BE49-F238E27FC236}">
                <a16:creationId xmlns:a16="http://schemas.microsoft.com/office/drawing/2014/main" id="{7D14B80E-DD1F-5E06-EA8A-A51529FD16F9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14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5600700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СИНТЕТИЧЕСКИЕ ПРЕПЯТСТВИЯ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5760720" cy="4983480"/>
          </a:xfrm>
          <a:prstGeom prst="roundRect">
            <a:avLst>
              <a:gd name="adj" fmla="val 25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548640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671226"/>
              </p:ext>
            </p:extLst>
          </p:nvPr>
        </p:nvGraphicFramePr>
        <p:xfrm>
          <a:off x="6492240" y="1234440"/>
          <a:ext cx="5257800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Объект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Точек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Уровень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Крупный объект по центру пути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722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0053"/>
                          </a:solidFill>
                        </a:rPr>
                        <a:t>CRITICAL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Малый предмет по центру колеи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71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0053"/>
                          </a:solidFill>
                        </a:rPr>
                        <a:t>CRITICAL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Брус поперёк рельсов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41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0053"/>
                          </a:solidFill>
                        </a:rPr>
                        <a:t>CRITICAL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 dirty="0" err="1">
                          <a:solidFill>
                            <a:srgbClr val="1C1D22"/>
                          </a:solidFill>
                        </a:rPr>
                        <a:t>Свисающий</a:t>
                      </a:r>
                      <a:r>
                        <a:rPr sz="1050" b="0" i="0" dirty="0">
                          <a:solidFill>
                            <a:srgbClr val="1C1D22"/>
                          </a:solidFill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1C1D22"/>
                          </a:solidFill>
                        </a:rPr>
                        <a:t>кабель</a:t>
                      </a:r>
                      <a:r>
                        <a:rPr sz="1050" b="0" i="0" dirty="0">
                          <a:solidFill>
                            <a:srgbClr val="1C1D22"/>
                          </a:solidFill>
                        </a:rPr>
                        <a:t>, </a:t>
                      </a:r>
                      <a:r>
                        <a:rPr sz="1050" b="0" i="0" dirty="0" err="1">
                          <a:solidFill>
                            <a:srgbClr val="1C1D22"/>
                          </a:solidFill>
                        </a:rPr>
                        <a:t>длина</a:t>
                      </a:r>
                      <a:endParaRPr sz="1050" b="0" i="0" dirty="0">
                        <a:solidFill>
                          <a:srgbClr val="1C1D22"/>
                        </a:solidFill>
                      </a:endParaRP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13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520978"/>
                          </a:solidFill>
                        </a:rPr>
                        <a:t>WARNING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Объект на внешней границе габарита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C1D22"/>
                          </a:solidFill>
                        </a:rPr>
                        <a:t>371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dirty="0">
                          <a:solidFill>
                            <a:srgbClr val="520978"/>
                          </a:solidFill>
                        </a:rPr>
                        <a:t>WARNING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4526280"/>
            <a:ext cx="5257800" cy="17373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0" i="0" dirty="0" err="1">
                <a:solidFill>
                  <a:srgbClr val="FFFFFF"/>
                </a:solidFill>
              </a:rPr>
              <a:t>Набор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1" i="0" dirty="0" err="1">
                <a:solidFill>
                  <a:srgbClr val="FFFFFF"/>
                </a:solidFill>
              </a:rPr>
              <a:t>cloud_with_fake_obj</a:t>
            </a:r>
            <a:r>
              <a:rPr sz="1100" b="0" i="0" dirty="0">
                <a:solidFill>
                  <a:srgbClr val="FFFFFF"/>
                </a:solidFill>
              </a:rPr>
              <a:t>: </a:t>
            </a:r>
            <a:r>
              <a:rPr sz="1100" b="0" i="0" dirty="0" err="1">
                <a:solidFill>
                  <a:srgbClr val="FFFFFF"/>
                </a:solidFill>
              </a:rPr>
              <a:t>объекты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вставлены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в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реальные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облака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тоннеля</a:t>
            </a:r>
            <a:r>
              <a:rPr sz="1100" b="0" i="0" dirty="0">
                <a:solidFill>
                  <a:srgbClr val="FFFFFF"/>
                </a:solidFill>
              </a:rPr>
              <a:t>.</a:t>
            </a:r>
          </a:p>
          <a:p>
            <a:pPr marL="190500" indent="-190500" algn="l">
              <a:lnSpc>
                <a:spcPct val="105000"/>
              </a:lnSpc>
              <a:spcAft>
                <a:spcPts val="500"/>
              </a:spcAft>
              <a:buClr>
                <a:srgbClr val="FFD6E4"/>
              </a:buClr>
              <a:buSzPct val="100000"/>
              <a:buFont typeface="Arial"/>
              <a:buChar char="•"/>
            </a:pPr>
            <a:r>
              <a:rPr sz="1100" b="1" i="0" dirty="0" err="1">
                <a:solidFill>
                  <a:srgbClr val="FFFFFF"/>
                </a:solidFill>
              </a:rPr>
              <a:t>Кабель</a:t>
            </a:r>
            <a:r>
              <a:rPr sz="1100" b="1" i="0" dirty="0">
                <a:solidFill>
                  <a:srgbClr val="FFFFFF"/>
                </a:solidFill>
              </a:rPr>
              <a:t> </a:t>
            </a:r>
            <a:r>
              <a:rPr sz="1100" b="1" i="0" dirty="0" err="1">
                <a:solidFill>
                  <a:srgbClr val="FFFFFF"/>
                </a:solidFill>
              </a:rPr>
              <a:t>Ø</a:t>
            </a:r>
            <a:r>
              <a:rPr sz="1100" b="1" i="0" dirty="0">
                <a:solidFill>
                  <a:srgbClr val="FFFFFF"/>
                </a:solidFill>
              </a:rPr>
              <a:t> 5 </a:t>
            </a:r>
            <a:r>
              <a:rPr sz="1100" b="1" i="0" dirty="0" err="1">
                <a:solidFill>
                  <a:srgbClr val="FFFFFF"/>
                </a:solidFill>
              </a:rPr>
              <a:t>см</a:t>
            </a:r>
            <a:r>
              <a:rPr sz="1100" b="1" i="0" dirty="0">
                <a:solidFill>
                  <a:srgbClr val="FFFFFF"/>
                </a:solidFill>
              </a:rPr>
              <a:t> — </a:t>
            </a:r>
            <a:r>
              <a:rPr sz="1100" b="1" i="0" dirty="0" err="1">
                <a:solidFill>
                  <a:srgbClr val="FFFFFF"/>
                </a:solidFill>
              </a:rPr>
              <a:t>на</a:t>
            </a:r>
            <a:r>
              <a:rPr sz="1100" b="1" i="0" dirty="0">
                <a:solidFill>
                  <a:srgbClr val="FFFFFF"/>
                </a:solidFill>
              </a:rPr>
              <a:t> 127.2 </a:t>
            </a:r>
            <a:r>
              <a:rPr sz="1100" b="1" i="0" dirty="0" err="1">
                <a:solidFill>
                  <a:srgbClr val="FFFFFF"/>
                </a:solidFill>
              </a:rPr>
              <a:t>м</a:t>
            </a:r>
            <a:r>
              <a:rPr sz="1100" b="1" i="0" dirty="0">
                <a:solidFill>
                  <a:srgbClr val="FFFFFF"/>
                </a:solidFill>
              </a:rPr>
              <a:t> </a:t>
            </a:r>
            <a:r>
              <a:rPr sz="1100" b="1" i="0" dirty="0" err="1">
                <a:solidFill>
                  <a:srgbClr val="FFFFFF"/>
                </a:solidFill>
              </a:rPr>
              <a:t>по</a:t>
            </a:r>
            <a:r>
              <a:rPr sz="1100" b="1" i="0" dirty="0">
                <a:solidFill>
                  <a:srgbClr val="FFFFFF"/>
                </a:solidFill>
              </a:rPr>
              <a:t> 13 </a:t>
            </a:r>
            <a:r>
              <a:rPr sz="1100" b="1" i="0" dirty="0" err="1">
                <a:solidFill>
                  <a:srgbClr val="FFFFFF"/>
                </a:solidFill>
              </a:rPr>
              <a:t>точкам</a:t>
            </a:r>
            <a:r>
              <a:rPr sz="1100" b="1" i="0" dirty="0">
                <a:solidFill>
                  <a:srgbClr val="FFFFFF"/>
                </a:solidFill>
              </a:rPr>
              <a:t>: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работает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специализированный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детектор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вертикальных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нитей</a:t>
            </a:r>
            <a:r>
              <a:rPr sz="1100" b="0" i="0" dirty="0">
                <a:solidFill>
                  <a:srgbClr val="FFFFFF"/>
                </a:solidFill>
              </a:rPr>
              <a:t>.</a:t>
            </a:r>
          </a:p>
          <a:p>
            <a:pPr marL="190500" indent="-190500" algn="l">
              <a:lnSpc>
                <a:spcPct val="105000"/>
              </a:lnSpc>
              <a:spcAft>
                <a:spcPts val="500"/>
              </a:spcAft>
              <a:buClr>
                <a:srgbClr val="FFD6E4"/>
              </a:buClr>
              <a:buSzPct val="100000"/>
              <a:buFont typeface="Arial"/>
              <a:buChar char="•"/>
            </a:pPr>
            <a:r>
              <a:rPr sz="1100" b="1" i="0" dirty="0" err="1">
                <a:solidFill>
                  <a:srgbClr val="FFFFFF"/>
                </a:solidFill>
              </a:rPr>
              <a:t>Красный</a:t>
            </a:r>
            <a:r>
              <a:rPr sz="1100" b="0" i="0" dirty="0">
                <a:solidFill>
                  <a:srgbClr val="FFFFFF"/>
                </a:solidFill>
              </a:rPr>
              <a:t> — </a:t>
            </a:r>
            <a:r>
              <a:rPr sz="1100" b="0" i="0" dirty="0" err="1">
                <a:solidFill>
                  <a:srgbClr val="FFFFFF"/>
                </a:solidFill>
              </a:rPr>
              <a:t>внутри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габарита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и</a:t>
            </a:r>
            <a:r>
              <a:rPr sz="1100" b="0" i="0" dirty="0">
                <a:solidFill>
                  <a:srgbClr val="FFFFFF"/>
                </a:solidFill>
              </a:rPr>
              <a:t> D &lt; 80 </a:t>
            </a:r>
            <a:r>
              <a:rPr sz="1100" b="0" i="0" dirty="0" err="1">
                <a:solidFill>
                  <a:srgbClr val="FFFFFF"/>
                </a:solidFill>
              </a:rPr>
              <a:t>м</a:t>
            </a:r>
            <a:r>
              <a:rPr sz="1100" b="0" i="0" dirty="0">
                <a:solidFill>
                  <a:srgbClr val="FFFFFF"/>
                </a:solidFill>
              </a:rPr>
              <a:t>; </a:t>
            </a:r>
            <a:r>
              <a:rPr sz="1100" b="1" i="0" dirty="0" err="1">
                <a:solidFill>
                  <a:srgbClr val="FFFFFF"/>
                </a:solidFill>
              </a:rPr>
              <a:t>сиреневый</a:t>
            </a:r>
            <a:r>
              <a:rPr sz="1100" b="0" i="0" dirty="0">
                <a:solidFill>
                  <a:srgbClr val="FFFFFF"/>
                </a:solidFill>
              </a:rPr>
              <a:t> — </a:t>
            </a:r>
            <a:r>
              <a:rPr sz="1100" b="0" i="0" dirty="0" err="1">
                <a:solidFill>
                  <a:srgbClr val="FFFFFF"/>
                </a:solidFill>
              </a:rPr>
              <a:t>дальний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горизонт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или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кромка</a:t>
            </a:r>
            <a:r>
              <a:rPr sz="1100" b="0" i="0" dirty="0">
                <a:solidFill>
                  <a:srgbClr val="FFFFFF"/>
                </a:solidFill>
              </a:rPr>
              <a:t> </a:t>
            </a:r>
            <a:r>
              <a:rPr sz="1100" b="0" i="0" dirty="0" err="1">
                <a:solidFill>
                  <a:srgbClr val="FFFFFF"/>
                </a:solidFill>
              </a:rPr>
              <a:t>габарита</a:t>
            </a:r>
            <a:r>
              <a:rPr sz="1100" b="0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" name="Номер слайда 35">
            <a:extLst>
              <a:ext uri="{FF2B5EF4-FFF2-40B4-BE49-F238E27FC236}">
                <a16:creationId xmlns:a16="http://schemas.microsoft.com/office/drawing/2014/main" id="{6D72B592-4B24-2343-8CC2-0F348D686797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15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3B493-2473-879C-8F1E-3BF57696041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3D36F-E9B4-73D4-5404-B1DF50769AD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72A5AB-A1CE-9F90-1FA0-4B74B0D7B6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55B560-7A99-F303-AE71-B6F898EBA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4D42CB-E40E-BF92-8683-62E25FD1994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2AC878-94C3-C305-95EF-4D5551658014}"/>
              </a:ext>
            </a:extLst>
          </p:cNvPr>
          <p:cNvSpPr/>
          <p:nvPr/>
        </p:nvSpPr>
        <p:spPr>
          <a:xfrm>
            <a:off x="347472" y="320040"/>
            <a:ext cx="5459562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FFFFFF"/>
                </a:solidFill>
              </a:rPr>
              <a:t>ПРОИЗВОДИТЕЛЬНОСТЬ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095D65A-49A1-57C2-7AC6-04AF523C270F}"/>
              </a:ext>
            </a:extLst>
          </p:cNvPr>
          <p:cNvSpPr/>
          <p:nvPr/>
        </p:nvSpPr>
        <p:spPr>
          <a:xfrm>
            <a:off x="411480" y="1234440"/>
            <a:ext cx="6492240" cy="4983480"/>
          </a:xfrm>
          <a:prstGeom prst="roundRect">
            <a:avLst>
              <a:gd name="adj" fmla="val 2568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1D9E7A1-0BB1-687F-9FE8-83BC14D1A015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371600"/>
          <a:ext cx="32918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9BE522F-BEC0-8D1B-5B44-8080C2EB0550}"/>
              </a:ext>
            </a:extLst>
          </p:cNvPr>
          <p:cNvSpPr txBox="1"/>
          <p:nvPr/>
        </p:nvSpPr>
        <p:spPr>
          <a:xfrm>
            <a:off x="1143000" y="3401568"/>
            <a:ext cx="2011680" cy="7315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520978"/>
                </a:solidFill>
              </a:rPr>
              <a:t>21–25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A5470"/>
                </a:solidFill>
              </a:rPr>
              <a:t>мс / кадр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8CA084C-253C-6FB1-2E33-42A4D23F8C0D}"/>
              </a:ext>
            </a:extLst>
          </p:cNvPr>
          <p:cNvSpPr/>
          <p:nvPr/>
        </p:nvSpPr>
        <p:spPr>
          <a:xfrm>
            <a:off x="3977639" y="1691640"/>
            <a:ext cx="201168" cy="201168"/>
          </a:xfrm>
          <a:prstGeom prst="ellipse">
            <a:avLst/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7FB0CA-5BC4-20A0-53F9-1979DDD40A5B}"/>
              </a:ext>
            </a:extLst>
          </p:cNvPr>
          <p:cNvSpPr txBox="1"/>
          <p:nvPr/>
        </p:nvSpPr>
        <p:spPr>
          <a:xfrm>
            <a:off x="4297680" y="1600200"/>
            <a:ext cx="256032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1D22"/>
                </a:solidFill>
              </a:rPr>
              <a:t>CloudParser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21594-8A9C-32F7-C9CB-30FDC7A0C47D}"/>
              </a:ext>
            </a:extLst>
          </p:cNvPr>
          <p:cNvSpPr txBox="1"/>
          <p:nvPr/>
        </p:nvSpPr>
        <p:spPr>
          <a:xfrm>
            <a:off x="4297680" y="1874519"/>
            <a:ext cx="256032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5470"/>
                </a:solidFill>
              </a:rPr>
              <a:t>4.2–5.5 мс · 21 %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48071F-CE0E-AB86-4C83-FEF1980E8351}"/>
              </a:ext>
            </a:extLst>
          </p:cNvPr>
          <p:cNvSpPr/>
          <p:nvPr/>
        </p:nvSpPr>
        <p:spPr>
          <a:xfrm>
            <a:off x="3977639" y="2404872"/>
            <a:ext cx="201168" cy="201168"/>
          </a:xfrm>
          <a:prstGeom prst="ellipse">
            <a:avLst/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4E19E1-D7A7-BF57-16CA-E24CF5556A1D}"/>
              </a:ext>
            </a:extLst>
          </p:cNvPr>
          <p:cNvSpPr txBox="1"/>
          <p:nvPr/>
        </p:nvSpPr>
        <p:spPr>
          <a:xfrm>
            <a:off x="4297680" y="2313432"/>
            <a:ext cx="256032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1D22"/>
                </a:solidFill>
              </a:rPr>
              <a:t>DualRailTracker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0529E2-0DC6-0C17-46D4-07296678D666}"/>
              </a:ext>
            </a:extLst>
          </p:cNvPr>
          <p:cNvSpPr txBox="1"/>
          <p:nvPr/>
        </p:nvSpPr>
        <p:spPr>
          <a:xfrm>
            <a:off x="4297680" y="2587752"/>
            <a:ext cx="256032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5470"/>
                </a:solidFill>
              </a:rPr>
              <a:t>2.1–3.0 мс · 11 %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6AB07C-B138-025A-CA04-4D54BF23EFED}"/>
              </a:ext>
            </a:extLst>
          </p:cNvPr>
          <p:cNvSpPr/>
          <p:nvPr/>
        </p:nvSpPr>
        <p:spPr>
          <a:xfrm>
            <a:off x="3977639" y="3118104"/>
            <a:ext cx="201168" cy="201168"/>
          </a:xfrm>
          <a:prstGeom prst="ellipse">
            <a:avLst/>
          </a:prstGeom>
          <a:solidFill>
            <a:srgbClr val="FC3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024B95-DF5D-98B0-74BC-64846755E667}"/>
              </a:ext>
            </a:extLst>
          </p:cNvPr>
          <p:cNvSpPr txBox="1"/>
          <p:nvPr/>
        </p:nvSpPr>
        <p:spPr>
          <a:xfrm>
            <a:off x="4297680" y="3026664"/>
            <a:ext cx="256032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1D22"/>
                </a:solidFill>
              </a:rPr>
              <a:t>TrackGeometrySpline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074E9A-B8BC-0F18-6EC4-AD15DB803EB9}"/>
              </a:ext>
            </a:extLst>
          </p:cNvPr>
          <p:cNvSpPr txBox="1"/>
          <p:nvPr/>
        </p:nvSpPr>
        <p:spPr>
          <a:xfrm>
            <a:off x="4297680" y="3300984"/>
            <a:ext cx="256032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5470"/>
                </a:solidFill>
              </a:rPr>
              <a:t>2.8–3.8 мс · 14 %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B65A1D-73B5-35A3-F978-D73112E24C3F}"/>
              </a:ext>
            </a:extLst>
          </p:cNvPr>
          <p:cNvSpPr/>
          <p:nvPr/>
        </p:nvSpPr>
        <p:spPr>
          <a:xfrm>
            <a:off x="3977639" y="3831335"/>
            <a:ext cx="201168" cy="201168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FA7B6D-BDDD-9D99-B0BC-846DE4835369}"/>
              </a:ext>
            </a:extLst>
          </p:cNvPr>
          <p:cNvSpPr txBox="1"/>
          <p:nvPr/>
        </p:nvSpPr>
        <p:spPr>
          <a:xfrm>
            <a:off x="4297680" y="3739896"/>
            <a:ext cx="256032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1D22"/>
                </a:solidFill>
              </a:rPr>
              <a:t>ClearanceEnvelopeSDF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7B13BB-4D76-F8EB-9D63-147F4323533E}"/>
              </a:ext>
            </a:extLst>
          </p:cNvPr>
          <p:cNvSpPr txBox="1"/>
          <p:nvPr/>
        </p:nvSpPr>
        <p:spPr>
          <a:xfrm>
            <a:off x="4297680" y="4014215"/>
            <a:ext cx="256032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5470"/>
                </a:solidFill>
              </a:rPr>
              <a:t>6.5–8.5 мс · 34 %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CBD602-7EFA-71B1-500C-80FD54BE0058}"/>
              </a:ext>
            </a:extLst>
          </p:cNvPr>
          <p:cNvSpPr/>
          <p:nvPr/>
        </p:nvSpPr>
        <p:spPr>
          <a:xfrm>
            <a:off x="3977639" y="4544568"/>
            <a:ext cx="201168" cy="201168"/>
          </a:xfrm>
          <a:prstGeom prst="ellipse">
            <a:avLst/>
          </a:prstGeom>
          <a:solidFill>
            <a:srgbClr val="9B4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A20B45-2427-E77D-06ED-03DD904CF059}"/>
              </a:ext>
            </a:extLst>
          </p:cNvPr>
          <p:cNvSpPr txBox="1"/>
          <p:nvPr/>
        </p:nvSpPr>
        <p:spPr>
          <a:xfrm>
            <a:off x="4297680" y="4453128"/>
            <a:ext cx="256032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1D22"/>
                </a:solidFill>
              </a:rPr>
              <a:t>Детекторы + трекер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F74B2-C298-7A90-2742-6843E3EC969D}"/>
              </a:ext>
            </a:extLst>
          </p:cNvPr>
          <p:cNvSpPr txBox="1"/>
          <p:nvPr/>
        </p:nvSpPr>
        <p:spPr>
          <a:xfrm>
            <a:off x="4297680" y="4727448"/>
            <a:ext cx="256032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5470"/>
                </a:solidFill>
              </a:rPr>
              <a:t>2.0–3.2 мс · 12 %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EF517BE-26A1-D7A5-FE25-AE230DBE2E5F}"/>
              </a:ext>
            </a:extLst>
          </p:cNvPr>
          <p:cNvSpPr/>
          <p:nvPr/>
        </p:nvSpPr>
        <p:spPr>
          <a:xfrm>
            <a:off x="3977639" y="5257800"/>
            <a:ext cx="201168" cy="201168"/>
          </a:xfrm>
          <a:prstGeom prst="ellipse">
            <a:avLst/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5EFAA1-B5D3-CF9B-739C-4F300B6B917F}"/>
              </a:ext>
            </a:extLst>
          </p:cNvPr>
          <p:cNvSpPr txBox="1"/>
          <p:nvPr/>
        </p:nvSpPr>
        <p:spPr>
          <a:xfrm>
            <a:off x="4297680" y="5166360"/>
            <a:ext cx="256032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1D22"/>
                </a:solidFill>
              </a:rPr>
              <a:t>Скорость + решение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15EA3-A035-46AB-3F3A-45A6B8A889E3}"/>
              </a:ext>
            </a:extLst>
          </p:cNvPr>
          <p:cNvSpPr txBox="1"/>
          <p:nvPr/>
        </p:nvSpPr>
        <p:spPr>
          <a:xfrm>
            <a:off x="4297680" y="5440680"/>
            <a:ext cx="256032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5470"/>
                </a:solidFill>
              </a:rPr>
              <a:t>0.8–1.2 мс · 5 %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59B78F5-CFB4-712B-F6BD-97269EA0EE07}"/>
              </a:ext>
            </a:extLst>
          </p:cNvPr>
          <p:cNvSpPr/>
          <p:nvPr/>
        </p:nvSpPr>
        <p:spPr>
          <a:xfrm>
            <a:off x="7178040" y="1234440"/>
            <a:ext cx="4572000" cy="1517904"/>
          </a:xfrm>
          <a:prstGeom prst="roundRect">
            <a:avLst>
              <a:gd name="adj" fmla="val 8433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CB4F36-AE04-AECA-EF85-D687E4BA1239}"/>
              </a:ext>
            </a:extLst>
          </p:cNvPr>
          <p:cNvSpPr txBox="1"/>
          <p:nvPr/>
        </p:nvSpPr>
        <p:spPr>
          <a:xfrm>
            <a:off x="7452360" y="1417320"/>
            <a:ext cx="411480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</a:rPr>
              <a:t>21.4–25.0 мс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A8A184-0749-7815-FDF6-29DDE81F1AAC}"/>
              </a:ext>
            </a:extLst>
          </p:cNvPr>
          <p:cNvSpPr txBox="1"/>
          <p:nvPr/>
        </p:nvSpPr>
        <p:spPr>
          <a:xfrm>
            <a:off x="7452360" y="2103120"/>
            <a:ext cx="4114800" cy="548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D6E4"/>
                </a:solidFill>
              </a:rPr>
              <a:t>полный цикл кадра из 307 200 точек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C4A51CF-1E2D-6A23-DBF6-11118AF73B27}"/>
              </a:ext>
            </a:extLst>
          </p:cNvPr>
          <p:cNvSpPr/>
          <p:nvPr/>
        </p:nvSpPr>
        <p:spPr>
          <a:xfrm>
            <a:off x="7178040" y="2852928"/>
            <a:ext cx="4572000" cy="151790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69191B-9266-2D4B-97D9-ECB536BFFBB9}"/>
              </a:ext>
            </a:extLst>
          </p:cNvPr>
          <p:cNvSpPr txBox="1"/>
          <p:nvPr/>
        </p:nvSpPr>
        <p:spPr>
          <a:xfrm>
            <a:off x="7452360" y="3057535"/>
            <a:ext cx="411480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2600" b="1" i="0" dirty="0">
                <a:solidFill>
                  <a:srgbClr val="FF0053"/>
                </a:solidFill>
              </a:rPr>
              <a:t>40–47 FPS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EFE3C7-C100-B887-A9C7-15F7E3AAE3AA}"/>
              </a:ext>
            </a:extLst>
          </p:cNvPr>
          <p:cNvSpPr txBox="1"/>
          <p:nvPr/>
        </p:nvSpPr>
        <p:spPr>
          <a:xfrm>
            <a:off x="7452360" y="3803904"/>
            <a:ext cx="4114800" cy="5486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50" b="0" i="0" dirty="0" err="1">
                <a:solidFill>
                  <a:srgbClr val="1C1D22"/>
                </a:solidFill>
              </a:rPr>
              <a:t>темп</a:t>
            </a:r>
            <a:r>
              <a:rPr sz="1150" b="0" i="0" dirty="0">
                <a:solidFill>
                  <a:srgbClr val="1C1D22"/>
                </a:solidFill>
              </a:rPr>
              <a:t> </a:t>
            </a:r>
            <a:r>
              <a:rPr sz="1150" b="0" i="0" dirty="0" err="1">
                <a:solidFill>
                  <a:srgbClr val="1C1D22"/>
                </a:solidFill>
              </a:rPr>
              <a:t>обработки</a:t>
            </a:r>
            <a:r>
              <a:rPr sz="1150" b="0" i="0" dirty="0">
                <a:solidFill>
                  <a:srgbClr val="1C1D22"/>
                </a:solidFill>
              </a:rPr>
              <a:t>: </a:t>
            </a:r>
            <a:r>
              <a:rPr sz="1150" b="0" i="0" dirty="0" err="1">
                <a:solidFill>
                  <a:srgbClr val="1C1D22"/>
                </a:solidFill>
              </a:rPr>
              <a:t>запас</a:t>
            </a:r>
            <a:r>
              <a:rPr sz="1150" b="0" i="0" dirty="0">
                <a:solidFill>
                  <a:srgbClr val="1C1D22"/>
                </a:solidFill>
              </a:rPr>
              <a:t> ×4 </a:t>
            </a:r>
            <a:r>
              <a:rPr sz="1150" b="0" i="0" dirty="0" err="1">
                <a:solidFill>
                  <a:srgbClr val="1C1D22"/>
                </a:solidFill>
              </a:rPr>
              <a:t>к</a:t>
            </a:r>
            <a:r>
              <a:rPr sz="1150" b="0" i="0" dirty="0">
                <a:solidFill>
                  <a:srgbClr val="1C1D22"/>
                </a:solidFill>
              </a:rPr>
              <a:t> </a:t>
            </a:r>
            <a:r>
              <a:rPr sz="1150" b="0" i="0" dirty="0" err="1">
                <a:solidFill>
                  <a:srgbClr val="1C1D22"/>
                </a:solidFill>
              </a:rPr>
              <a:t>лидару</a:t>
            </a:r>
            <a:r>
              <a:rPr sz="1150" b="0" i="0" dirty="0">
                <a:solidFill>
                  <a:srgbClr val="1C1D22"/>
                </a:solidFill>
              </a:rPr>
              <a:t> 10 </a:t>
            </a:r>
            <a:r>
              <a:rPr sz="1150" b="0" i="0" dirty="0" err="1">
                <a:solidFill>
                  <a:srgbClr val="1C1D22"/>
                </a:solidFill>
              </a:rPr>
              <a:t>Гц</a:t>
            </a:r>
            <a:endParaRPr sz="1150" b="0" i="0" dirty="0">
              <a:solidFill>
                <a:srgbClr val="1C1D22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BC29A59-89A8-50CD-FD1F-A58EE105B66C}"/>
              </a:ext>
            </a:extLst>
          </p:cNvPr>
          <p:cNvSpPr/>
          <p:nvPr/>
        </p:nvSpPr>
        <p:spPr>
          <a:xfrm>
            <a:off x="7178040" y="4471416"/>
            <a:ext cx="4572000" cy="1682496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4D1B1C-56AE-2DE1-9ECE-DC3824D1A43F}"/>
              </a:ext>
            </a:extLst>
          </p:cNvPr>
          <p:cNvSpPr txBox="1"/>
          <p:nvPr/>
        </p:nvSpPr>
        <p:spPr>
          <a:xfrm>
            <a:off x="7427145" y="4667765"/>
            <a:ext cx="4114800" cy="6400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2600" b="1" i="0" dirty="0">
                <a:solidFill>
                  <a:srgbClr val="FF0053"/>
                </a:solidFill>
              </a:rPr>
              <a:t>CPU, </a:t>
            </a:r>
            <a:r>
              <a:rPr sz="2600" b="1" i="0" dirty="0" err="1">
                <a:solidFill>
                  <a:srgbClr val="FF0053"/>
                </a:solidFill>
              </a:rPr>
              <a:t>без</a:t>
            </a:r>
            <a:r>
              <a:rPr sz="2600" b="1" i="0" dirty="0">
                <a:solidFill>
                  <a:srgbClr val="FF0053"/>
                </a:solidFill>
              </a:rPr>
              <a:t> GPU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B7DB69-7CB1-B091-8687-07029BEEA5C4}"/>
              </a:ext>
            </a:extLst>
          </p:cNvPr>
          <p:cNvSpPr txBox="1"/>
          <p:nvPr/>
        </p:nvSpPr>
        <p:spPr>
          <a:xfrm>
            <a:off x="7452360" y="5075840"/>
            <a:ext cx="4114800" cy="821119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150" b="0" i="0" dirty="0" err="1">
                <a:solidFill>
                  <a:srgbClr val="1C1D22"/>
                </a:solidFill>
              </a:rPr>
              <a:t>use_gpu</a:t>
            </a:r>
            <a:r>
              <a:rPr sz="1150" b="0" i="0" dirty="0">
                <a:solidFill>
                  <a:srgbClr val="1C1D22"/>
                </a:solidFill>
              </a:rPr>
              <a:t>: false — </a:t>
            </a:r>
            <a:r>
              <a:rPr sz="1150" b="0" i="0" dirty="0" err="1">
                <a:solidFill>
                  <a:srgbClr val="1C1D22"/>
                </a:solidFill>
              </a:rPr>
              <a:t>вся</a:t>
            </a:r>
            <a:r>
              <a:rPr sz="1150" b="0" i="0" dirty="0">
                <a:solidFill>
                  <a:srgbClr val="1C1D22"/>
                </a:solidFill>
              </a:rPr>
              <a:t> </a:t>
            </a:r>
            <a:r>
              <a:rPr sz="1150" b="0" i="0" dirty="0" err="1">
                <a:solidFill>
                  <a:srgbClr val="1C1D22"/>
                </a:solidFill>
              </a:rPr>
              <a:t>обработка</a:t>
            </a:r>
            <a:r>
              <a:rPr sz="1150" b="0" i="0" dirty="0">
                <a:solidFill>
                  <a:srgbClr val="1C1D22"/>
                </a:solidFill>
              </a:rPr>
              <a:t> </a:t>
            </a:r>
            <a:r>
              <a:rPr sz="1150" b="0" i="0" dirty="0" err="1">
                <a:solidFill>
                  <a:srgbClr val="1C1D22"/>
                </a:solidFill>
              </a:rPr>
              <a:t>на</a:t>
            </a:r>
            <a:r>
              <a:rPr sz="1150" b="0" i="0" dirty="0">
                <a:solidFill>
                  <a:srgbClr val="1C1D22"/>
                </a:solidFill>
              </a:rPr>
              <a:t> CPU</a:t>
            </a:r>
            <a:endParaRPr lang="en-US" sz="1150" b="0" i="0" dirty="0">
              <a:solidFill>
                <a:srgbClr val="1C1D22"/>
              </a:solidFill>
            </a:endParaRPr>
          </a:p>
          <a:p>
            <a:pPr algn="l">
              <a:spcAft>
                <a:spcPts val="400"/>
              </a:spcAft>
            </a:pPr>
            <a:r>
              <a:rPr lang="ru-RU" sz="1150" dirty="0">
                <a:solidFill>
                  <a:srgbClr val="1C1D22"/>
                </a:solidFill>
              </a:rPr>
              <a:t>На данном этапе разработка шла на ноутбуке, в будущем планируется проведение тестов на серверах схожей конфигурации из задания (с активной обработкой на </a:t>
            </a:r>
            <a:r>
              <a:rPr lang="en-US" sz="1150" dirty="0">
                <a:solidFill>
                  <a:srgbClr val="1C1D22"/>
                </a:solidFill>
              </a:rPr>
              <a:t>GPU</a:t>
            </a:r>
            <a:r>
              <a:rPr lang="ru-RU" sz="1150" dirty="0">
                <a:solidFill>
                  <a:srgbClr val="1C1D22"/>
                </a:solidFill>
              </a:rPr>
              <a:t>)</a:t>
            </a:r>
            <a:endParaRPr sz="1150" b="0" i="0" dirty="0">
              <a:solidFill>
                <a:srgbClr val="1C1D2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3BC8FD-3941-D92B-1420-FEE425041E2D}"/>
              </a:ext>
            </a:extLst>
          </p:cNvPr>
          <p:cNvSpPr txBox="1"/>
          <p:nvPr/>
        </p:nvSpPr>
        <p:spPr>
          <a:xfrm>
            <a:off x="411480" y="6291072"/>
            <a:ext cx="11338560" cy="27432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Замеры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команды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на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реальных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облаках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Hesai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Pandar 128</a:t>
            </a:r>
            <a:r>
              <a:rPr lang="ru-RU"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проводились на компьютере </a:t>
            </a:r>
            <a:r>
              <a:rPr lang="en-US"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Macbook</a:t>
            </a:r>
            <a:r>
              <a:rPr lang="en-US"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pro M5 Pro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Узкое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место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—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точный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SDF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по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14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рёбрам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для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каждой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sz="1000" b="0" i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точки</a:t>
            </a:r>
            <a:r>
              <a:rPr sz="1000" b="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45" name="Номер слайда 35">
            <a:extLst>
              <a:ext uri="{FF2B5EF4-FFF2-40B4-BE49-F238E27FC236}">
                <a16:creationId xmlns:a16="http://schemas.microsoft.com/office/drawing/2014/main" id="{F4ACD451-32A4-49F8-C741-897524E3ADD0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16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6387084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ИНТЕРФЕЙС ОПЕРАТОРА · WEB GUI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11338560" cy="4572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 dirty="0" err="1">
                <a:solidFill>
                  <a:srgbClr val="FFFFFF"/>
                </a:solidFill>
              </a:rPr>
              <a:t>Встроенный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веб-сервер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на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порту</a:t>
            </a:r>
            <a:r>
              <a:rPr sz="1150" b="0" i="0" dirty="0">
                <a:solidFill>
                  <a:srgbClr val="FFFFFF"/>
                </a:solidFill>
              </a:rPr>
              <a:t> 8080 </a:t>
            </a:r>
            <a:r>
              <a:rPr sz="1150" b="0" i="0" dirty="0" err="1">
                <a:solidFill>
                  <a:srgbClr val="FFFFFF"/>
                </a:solidFill>
              </a:rPr>
              <a:t>и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собственный</a:t>
            </a:r>
            <a:r>
              <a:rPr sz="1150" b="0" i="0" dirty="0">
                <a:solidFill>
                  <a:srgbClr val="FFFFFF"/>
                </a:solidFill>
              </a:rPr>
              <a:t> WebGL-</a:t>
            </a:r>
            <a:r>
              <a:rPr sz="1150" b="0" i="0" dirty="0" err="1">
                <a:solidFill>
                  <a:srgbClr val="FFFFFF"/>
                </a:solidFill>
              </a:rPr>
              <a:t>рендер</a:t>
            </a:r>
            <a:r>
              <a:rPr sz="1150" b="0" i="0" dirty="0">
                <a:solidFill>
                  <a:srgbClr val="FFFFFF"/>
                </a:solidFill>
              </a:rPr>
              <a:t>: </a:t>
            </a:r>
            <a:r>
              <a:rPr sz="1150" b="0" i="0" dirty="0" err="1">
                <a:solidFill>
                  <a:srgbClr val="FFFFFF"/>
                </a:solidFill>
              </a:rPr>
              <a:t>работает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в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любом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браузере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без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установки</a:t>
            </a:r>
            <a:r>
              <a:rPr sz="1150" b="0" i="0" dirty="0">
                <a:solidFill>
                  <a:srgbClr val="FFFFFF"/>
                </a:solidFill>
              </a:rPr>
              <a:t> ПО. HUD — </a:t>
            </a:r>
            <a:r>
              <a:rPr sz="1150" b="0" i="0" dirty="0" err="1">
                <a:solidFill>
                  <a:srgbClr val="FFFFFF"/>
                </a:solidFill>
              </a:rPr>
              <a:t>статус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пути</a:t>
            </a:r>
            <a:r>
              <a:rPr sz="1150" b="0" i="0" dirty="0">
                <a:solidFill>
                  <a:srgbClr val="FFFFFF"/>
                </a:solidFill>
              </a:rPr>
              <a:t>, </a:t>
            </a:r>
            <a:r>
              <a:rPr sz="1150" b="0" i="0" dirty="0" err="1">
                <a:solidFill>
                  <a:srgbClr val="FFFFFF"/>
                </a:solidFill>
              </a:rPr>
              <a:t>скорость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по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лидару</a:t>
            </a:r>
            <a:r>
              <a:rPr sz="1150" b="0" i="0" dirty="0">
                <a:solidFill>
                  <a:srgbClr val="FFFFFF"/>
                </a:solidFill>
              </a:rPr>
              <a:t>, </a:t>
            </a:r>
            <a:r>
              <a:rPr sz="1150" b="0" i="0" dirty="0" err="1">
                <a:solidFill>
                  <a:srgbClr val="FFFFFF"/>
                </a:solidFill>
              </a:rPr>
              <a:t>тормозной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путь</a:t>
            </a:r>
            <a:r>
              <a:rPr sz="1150" b="0" i="0" dirty="0">
                <a:solidFill>
                  <a:srgbClr val="FFFFFF"/>
                </a:solidFill>
              </a:rPr>
              <a:t>, </a:t>
            </a:r>
            <a:r>
              <a:rPr sz="1150" b="0" i="0" dirty="0" err="1">
                <a:solidFill>
                  <a:srgbClr val="FFFFFF"/>
                </a:solidFill>
              </a:rPr>
              <a:t>дистанция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и</a:t>
            </a:r>
            <a:r>
              <a:rPr sz="1150" b="0" i="0" dirty="0">
                <a:solidFill>
                  <a:srgbClr val="FFFFFF"/>
                </a:solidFill>
              </a:rPr>
              <a:t> TTC; </a:t>
            </a:r>
            <a:r>
              <a:rPr sz="1150" b="0" i="0" dirty="0" err="1">
                <a:solidFill>
                  <a:srgbClr val="FFFFFF"/>
                </a:solidFill>
              </a:rPr>
              <a:t>таблица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объектов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в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зоне</a:t>
            </a:r>
            <a:r>
              <a:rPr sz="1150" b="0" i="0" dirty="0">
                <a:solidFill>
                  <a:srgbClr val="FFFFFF"/>
                </a:solidFill>
              </a:rPr>
              <a:t> </a:t>
            </a:r>
            <a:r>
              <a:rPr sz="1150" b="0" i="0" dirty="0" err="1">
                <a:solidFill>
                  <a:srgbClr val="FFFFFF"/>
                </a:solidFill>
              </a:rPr>
              <a:t>контроля</a:t>
            </a:r>
            <a:r>
              <a:rPr sz="1150" b="0" i="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4" name="Picture 3" descr="WEB-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3" y="2253729"/>
            <a:ext cx="5789697" cy="3083014"/>
          </a:xfrm>
          <a:prstGeom prst="roundRect">
            <a:avLst>
              <a:gd name="adj" fmla="val 3104"/>
            </a:avLst>
          </a:prstGeom>
        </p:spPr>
      </p:pic>
      <p:sp>
        <p:nvSpPr>
          <p:cNvPr id="5" name="Rounded Rectangle 4"/>
          <p:cNvSpPr/>
          <p:nvPr/>
        </p:nvSpPr>
        <p:spPr>
          <a:xfrm>
            <a:off x="411480" y="5457278"/>
            <a:ext cx="5532120" cy="502920"/>
          </a:xfrm>
          <a:prstGeom prst="roundRect">
            <a:avLst>
              <a:gd name="adj" fmla="val 25454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</a:rPr>
              <a:t>Путь свободен: 43.9 км/ч, тормозной путь 78.2 м, 21.4 мс</a:t>
            </a:r>
          </a:p>
        </p:txBody>
      </p:sp>
      <p:pic>
        <p:nvPicPr>
          <p:cNvPr id="6" name="Picture 5" descr="WEB-Obst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2253729"/>
            <a:ext cx="5789697" cy="3083014"/>
          </a:xfrm>
          <a:prstGeom prst="roundRect">
            <a:avLst>
              <a:gd name="adj" fmla="val 3104"/>
            </a:avLst>
          </a:prstGeom>
        </p:spPr>
      </p:pic>
      <p:sp>
        <p:nvSpPr>
          <p:cNvPr id="7" name="Rounded Rectangle 6"/>
          <p:cNvSpPr/>
          <p:nvPr/>
        </p:nvSpPr>
        <p:spPr>
          <a:xfrm>
            <a:off x="6172199" y="5457278"/>
            <a:ext cx="5532120" cy="502920"/>
          </a:xfrm>
          <a:prstGeom prst="roundRect">
            <a:avLst>
              <a:gd name="adj" fmla="val 25454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</a:rPr>
              <a:t>Опасность: объект #8 на 48.7 м, 1.90 × 1.88 м, TTC 7.2 с, 25.0 мс</a:t>
            </a:r>
          </a:p>
        </p:txBody>
      </p:sp>
      <p:sp>
        <p:nvSpPr>
          <p:cNvPr id="9" name="Номер слайда 35">
            <a:extLst>
              <a:ext uri="{FF2B5EF4-FFF2-40B4-BE49-F238E27FC236}">
                <a16:creationId xmlns:a16="http://schemas.microsoft.com/office/drawing/2014/main" id="{D19327B9-116F-7871-D8AB-FBE4FF5C93D1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17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5207508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FFFFFF"/>
                </a:solidFill>
              </a:rPr>
              <a:t>FOXGLOVE STUDIO / RVIZ2</a:t>
            </a:r>
          </a:p>
        </p:txBody>
      </p:sp>
      <p:pic>
        <p:nvPicPr>
          <p:cNvPr id="3" name="Picture 2" descr="Foxglove-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19" y="1188720"/>
            <a:ext cx="5425440" cy="4069080"/>
          </a:xfrm>
          <a:prstGeom prst="roundRect">
            <a:avLst>
              <a:gd name="adj" fmla="val 2247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411480" y="5349240"/>
            <a:ext cx="5532120" cy="4572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</a:rPr>
              <a:t>Станция: платформа и колонны остаются вне каркаса габарита «М»</a:t>
            </a:r>
          </a:p>
        </p:txBody>
      </p:sp>
      <p:pic>
        <p:nvPicPr>
          <p:cNvPr id="5" name="Picture 4" descr="Foxglove-obst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1188720"/>
            <a:ext cx="5425440" cy="4069080"/>
          </a:xfrm>
          <a:prstGeom prst="roundRect">
            <a:avLst>
              <a:gd name="adj" fmla="val 2247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6172200" y="5349240"/>
            <a:ext cx="5532120" cy="4572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</a:rPr>
              <a:t>Посторонний объект на ходовом пути — красный маркер /metro/markers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5897880"/>
            <a:ext cx="148498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D6E4"/>
                </a:solidFill>
              </a:rPr>
              <a:t>/lidar_points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33625" y="58978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D6E4"/>
                </a:solidFill>
              </a:rPr>
              <a:t>/metro/clearance_envelope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1105" y="5897880"/>
            <a:ext cx="184343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D6E4"/>
                </a:solidFill>
              </a:rPr>
              <a:t>/metro/track_path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11696" y="5897880"/>
            <a:ext cx="157459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D6E4"/>
                </a:solidFill>
              </a:rPr>
              <a:t>/metro/markers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4892" y="5897880"/>
            <a:ext cx="3280867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1000" b="0" i="0" dirty="0" err="1">
                <a:solidFill>
                  <a:schemeClr val="bg1"/>
                </a:solidFill>
              </a:rPr>
              <a:t>ws</a:t>
            </a:r>
            <a:r>
              <a:rPr sz="1000" b="0" i="0" dirty="0">
                <a:solidFill>
                  <a:schemeClr val="bg1"/>
                </a:solidFill>
              </a:rPr>
              <a:t>://localhost:8765 · Foxglove WebSocket</a:t>
            </a:r>
          </a:p>
        </p:txBody>
      </p:sp>
      <p:sp>
        <p:nvSpPr>
          <p:cNvPr id="13" name="Номер слайда 35">
            <a:extLst>
              <a:ext uri="{FF2B5EF4-FFF2-40B4-BE49-F238E27FC236}">
                <a16:creationId xmlns:a16="http://schemas.microsoft.com/office/drawing/2014/main" id="{14DC8A3C-5018-F2E0-188C-F4CC3CB49938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18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49AF1B3-F6F0-BA76-0750-89BF3791D4F1}"/>
              </a:ext>
            </a:extLst>
          </p:cNvPr>
          <p:cNvSpPr/>
          <p:nvPr/>
        </p:nvSpPr>
        <p:spPr>
          <a:xfrm>
            <a:off x="347472" y="320040"/>
            <a:ext cx="5600700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ЗАПУСК И ИНТЕРФЕЙСЫ ROS 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4DD6DBF-C55D-599D-6087-DD86B9B1A194}"/>
              </a:ext>
            </a:extLst>
          </p:cNvPr>
          <p:cNvSpPr/>
          <p:nvPr/>
        </p:nvSpPr>
        <p:spPr>
          <a:xfrm>
            <a:off x="411480" y="1234440"/>
            <a:ext cx="5120640" cy="2514600"/>
          </a:xfrm>
          <a:prstGeom prst="roundRect">
            <a:avLst>
              <a:gd name="adj" fmla="val 5090"/>
            </a:avLst>
          </a:prstGeom>
          <a:solidFill>
            <a:srgbClr val="1C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900AF-5390-7558-FB14-B6B8052A22D2}"/>
              </a:ext>
            </a:extLst>
          </p:cNvPr>
          <p:cNvSpPr txBox="1"/>
          <p:nvPr/>
        </p:nvSpPr>
        <p:spPr>
          <a:xfrm>
            <a:off x="640080" y="1371600"/>
            <a:ext cx="4754880" cy="22860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8A83D1"/>
                </a:solidFill>
                <a:latin typeface="Consolas"/>
              </a:rPr>
              <a:t># </a:t>
            </a:r>
            <a:r>
              <a:rPr sz="1150" b="0" i="0" dirty="0" err="1">
                <a:solidFill>
                  <a:srgbClr val="8A83D1"/>
                </a:solidFill>
                <a:latin typeface="Consolas"/>
              </a:rPr>
              <a:t>сборка</a:t>
            </a:r>
            <a:r>
              <a:rPr sz="1150" b="0" i="0" dirty="0">
                <a:solidFill>
                  <a:srgbClr val="8A83D1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8A83D1"/>
                </a:solidFill>
                <a:latin typeface="Consolas"/>
              </a:rPr>
              <a:t>образа</a:t>
            </a:r>
            <a:endParaRPr sz="1150" b="0" i="0" dirty="0">
              <a:solidFill>
                <a:srgbClr val="8A83D1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FFFFFF"/>
                </a:solidFill>
                <a:latin typeface="Consolas"/>
              </a:rPr>
              <a:t>./</a:t>
            </a:r>
            <a:r>
              <a:rPr sz="1150" b="0" i="0" dirty="0" err="1">
                <a:solidFill>
                  <a:srgbClr val="FFFFFF"/>
                </a:solidFill>
                <a:latin typeface="Consolas"/>
              </a:rPr>
              <a:t>run_docker.sh</a:t>
            </a:r>
            <a:r>
              <a:rPr sz="1150" b="0" i="0" dirty="0">
                <a:solidFill>
                  <a:srgbClr val="FFFFFF"/>
                </a:solidFill>
                <a:latin typeface="Consolas"/>
              </a:rPr>
              <a:t> --build</a:t>
            </a:r>
          </a:p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8A83D1"/>
                </a:solidFill>
                <a:latin typeface="Consolas"/>
              </a:rPr>
              <a:t># </a:t>
            </a:r>
            <a:r>
              <a:rPr sz="1150" b="0" i="0" dirty="0" err="1">
                <a:solidFill>
                  <a:srgbClr val="8A83D1"/>
                </a:solidFill>
                <a:latin typeface="Consolas"/>
              </a:rPr>
              <a:t>первый</a:t>
            </a:r>
            <a:r>
              <a:rPr sz="1150" b="0" i="0" dirty="0">
                <a:solidFill>
                  <a:srgbClr val="8A83D1"/>
                </a:solidFill>
                <a:latin typeface="Consolas"/>
              </a:rPr>
              <a:t> bag </a:t>
            </a:r>
            <a:r>
              <a:rPr sz="1150" b="0" i="0" dirty="0" err="1">
                <a:solidFill>
                  <a:srgbClr val="8A83D1"/>
                </a:solidFill>
                <a:latin typeface="Consolas"/>
              </a:rPr>
              <a:t>из</a:t>
            </a:r>
            <a:r>
              <a:rPr sz="1150" b="0" i="0" dirty="0">
                <a:solidFill>
                  <a:srgbClr val="8A83D1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8A83D1"/>
                </a:solidFill>
                <a:latin typeface="Consolas"/>
              </a:rPr>
              <a:t>папки</a:t>
            </a:r>
            <a:r>
              <a:rPr sz="1150" b="0" i="0" dirty="0">
                <a:solidFill>
                  <a:srgbClr val="8A83D1"/>
                </a:solidFill>
                <a:latin typeface="Consolas"/>
              </a:rPr>
              <a:t> bags/</a:t>
            </a:r>
          </a:p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FFFFFF"/>
                </a:solidFill>
                <a:latin typeface="Consolas"/>
              </a:rPr>
              <a:t>./</a:t>
            </a:r>
            <a:r>
              <a:rPr sz="1150" b="0" i="0" dirty="0" err="1">
                <a:solidFill>
                  <a:srgbClr val="FFFFFF"/>
                </a:solidFill>
                <a:latin typeface="Consolas"/>
              </a:rPr>
              <a:t>run_docker.sh</a:t>
            </a:r>
            <a:r>
              <a:rPr sz="1150" b="0" i="0" dirty="0">
                <a:solidFill>
                  <a:srgbClr val="FFFFFF"/>
                </a:solidFill>
                <a:latin typeface="Consolas"/>
              </a:rPr>
              <a:t> --auto</a:t>
            </a:r>
          </a:p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8A83D1"/>
                </a:solidFill>
                <a:latin typeface="Consolas"/>
              </a:rPr>
              <a:t># </a:t>
            </a:r>
            <a:r>
              <a:rPr sz="1150" b="0" i="0" dirty="0" err="1">
                <a:solidFill>
                  <a:srgbClr val="8A83D1"/>
                </a:solidFill>
                <a:latin typeface="Consolas"/>
              </a:rPr>
              <a:t>конкретная</a:t>
            </a:r>
            <a:r>
              <a:rPr sz="1150" b="0" i="0" dirty="0">
                <a:solidFill>
                  <a:srgbClr val="8A83D1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8A83D1"/>
                </a:solidFill>
                <a:latin typeface="Consolas"/>
              </a:rPr>
              <a:t>запись</a:t>
            </a:r>
            <a:endParaRPr sz="1150" b="0" i="0" dirty="0">
              <a:solidFill>
                <a:srgbClr val="8A83D1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FFFFFF"/>
                </a:solidFill>
                <a:latin typeface="Consolas"/>
              </a:rPr>
              <a:t>./</a:t>
            </a:r>
            <a:r>
              <a:rPr sz="1150" b="0" i="0" dirty="0" err="1">
                <a:solidFill>
                  <a:srgbClr val="FFFFFF"/>
                </a:solidFill>
                <a:latin typeface="Consolas"/>
              </a:rPr>
              <a:t>run_docker.sh</a:t>
            </a:r>
            <a:r>
              <a:rPr sz="1150" b="0" i="0" dirty="0">
                <a:solidFill>
                  <a:srgbClr val="FFFFFF"/>
                </a:solidFill>
                <a:latin typeface="Consolas"/>
              </a:rPr>
              <a:t> --bag </a:t>
            </a:r>
            <a:r>
              <a:rPr sz="1150" b="0" i="0" dirty="0" err="1">
                <a:solidFill>
                  <a:srgbClr val="FFFFFF"/>
                </a:solidFill>
                <a:latin typeface="Consolas"/>
              </a:rPr>
              <a:t>doubleT_obstacle</a:t>
            </a:r>
            <a:endParaRPr sz="1150" b="0" i="0" dirty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FFD6E4"/>
                </a:solidFill>
                <a:latin typeface="Consolas"/>
              </a:rPr>
              <a:t>→ http://localhost:8080   </a:t>
            </a:r>
            <a:r>
              <a:rPr sz="1150" b="0" i="0" dirty="0" err="1">
                <a:solidFill>
                  <a:srgbClr val="FFD6E4"/>
                </a:solidFill>
                <a:latin typeface="Consolas"/>
              </a:rPr>
              <a:t>ws</a:t>
            </a:r>
            <a:r>
              <a:rPr sz="1150" b="0" i="0" dirty="0">
                <a:solidFill>
                  <a:srgbClr val="FFD6E4"/>
                </a:solidFill>
                <a:latin typeface="Consolas"/>
              </a:rPr>
              <a:t>://localhost:8765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3E06D-E252-B983-4B6B-3CC29380DC73}"/>
              </a:ext>
            </a:extLst>
          </p:cNvPr>
          <p:cNvSpPr txBox="1"/>
          <p:nvPr/>
        </p:nvSpPr>
        <p:spPr>
          <a:xfrm>
            <a:off x="411480" y="3931920"/>
            <a:ext cx="5120640" cy="32004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sz="1300" b="1" i="0" dirty="0" err="1">
                <a:solidFill>
                  <a:srgbClr val="520978"/>
                </a:solidFill>
              </a:rPr>
              <a:t>Ключевые</a:t>
            </a:r>
            <a:r>
              <a:rPr sz="1300" b="1" i="0" dirty="0">
                <a:solidFill>
                  <a:srgbClr val="520978"/>
                </a:solidFill>
              </a:rPr>
              <a:t> </a:t>
            </a:r>
            <a:r>
              <a:rPr sz="1300" b="1" i="0" dirty="0" err="1">
                <a:solidFill>
                  <a:srgbClr val="520978"/>
                </a:solidFill>
              </a:rPr>
              <a:t>параметры</a:t>
            </a:r>
            <a:r>
              <a:rPr sz="1300" b="1" i="0" dirty="0">
                <a:solidFill>
                  <a:srgbClr val="520978"/>
                </a:solidFill>
              </a:rPr>
              <a:t> · </a:t>
            </a:r>
            <a:r>
              <a:rPr sz="1300" b="1" i="0" dirty="0" err="1">
                <a:solidFill>
                  <a:srgbClr val="520978"/>
                </a:solidFill>
              </a:rPr>
              <a:t>params.yaml</a:t>
            </a:r>
            <a:endParaRPr sz="1300" b="1" i="0" dirty="0">
              <a:solidFill>
                <a:srgbClr val="520978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E4938E-BFCF-DF11-1D6F-5275DFB47AB0}"/>
              </a:ext>
            </a:extLst>
          </p:cNvPr>
          <p:cNvSpPr/>
          <p:nvPr/>
        </p:nvSpPr>
        <p:spPr>
          <a:xfrm>
            <a:off x="411480" y="4315968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8999E-19B5-4D6A-A038-105F4971CC9C}"/>
              </a:ext>
            </a:extLst>
          </p:cNvPr>
          <p:cNvSpPr txBox="1"/>
          <p:nvPr/>
        </p:nvSpPr>
        <p:spPr>
          <a:xfrm>
            <a:off x="521208" y="4334255"/>
            <a:ext cx="2286000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C1D22"/>
                </a:solidFill>
              </a:rPr>
              <a:t>lookahead_distance  </a:t>
            </a:r>
            <a:r>
              <a:rPr sz="850" b="1" i="0">
                <a:solidFill>
                  <a:srgbClr val="1C1D22"/>
                </a:solidFill>
              </a:rPr>
              <a:t>150 м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B3CD81-A164-859C-6B59-4D8FCE3EA1E9}"/>
              </a:ext>
            </a:extLst>
          </p:cNvPr>
          <p:cNvSpPr/>
          <p:nvPr/>
        </p:nvSpPr>
        <p:spPr>
          <a:xfrm>
            <a:off x="3017520" y="4315968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8B786-2FE2-EFD1-8152-D604DD3A7768}"/>
              </a:ext>
            </a:extLst>
          </p:cNvPr>
          <p:cNvSpPr txBox="1"/>
          <p:nvPr/>
        </p:nvSpPr>
        <p:spPr>
          <a:xfrm>
            <a:off x="3127248" y="4334255"/>
            <a:ext cx="2286000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C1D22"/>
                </a:solidFill>
              </a:rPr>
              <a:t>min_distance  </a:t>
            </a:r>
            <a:r>
              <a:rPr sz="850" b="1" i="0">
                <a:solidFill>
                  <a:srgbClr val="1C1D22"/>
                </a:solidFill>
              </a:rPr>
              <a:t>2 м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CC6AD2-9F88-3E8B-7E75-EA32DB3B6613}"/>
              </a:ext>
            </a:extLst>
          </p:cNvPr>
          <p:cNvSpPr/>
          <p:nvPr/>
        </p:nvSpPr>
        <p:spPr>
          <a:xfrm>
            <a:off x="411480" y="4791456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1813E8-E067-3C3B-8332-C43AFD64A6CC}"/>
              </a:ext>
            </a:extLst>
          </p:cNvPr>
          <p:cNvSpPr txBox="1"/>
          <p:nvPr/>
        </p:nvSpPr>
        <p:spPr>
          <a:xfrm>
            <a:off x="521208" y="4809744"/>
            <a:ext cx="2286000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C1D22"/>
                </a:solidFill>
              </a:rPr>
              <a:t>gauge  </a:t>
            </a:r>
            <a:r>
              <a:rPr sz="850" b="1" i="0">
                <a:solidFill>
                  <a:srgbClr val="1C1D22"/>
                </a:solidFill>
              </a:rPr>
              <a:t>1.520 м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E4AF06-2666-F681-F0E1-9F545A187007}"/>
              </a:ext>
            </a:extLst>
          </p:cNvPr>
          <p:cNvSpPr/>
          <p:nvPr/>
        </p:nvSpPr>
        <p:spPr>
          <a:xfrm>
            <a:off x="3017520" y="4791456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F308C6-A338-94A9-6EC7-35B67CDE6635}"/>
              </a:ext>
            </a:extLst>
          </p:cNvPr>
          <p:cNvSpPr txBox="1"/>
          <p:nvPr/>
        </p:nvSpPr>
        <p:spPr>
          <a:xfrm>
            <a:off x="3127248" y="4809744"/>
            <a:ext cx="2286000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C1D22"/>
                </a:solidFill>
              </a:rPr>
              <a:t>nominal_tor_height  </a:t>
            </a:r>
            <a:r>
              <a:rPr sz="850" b="1" i="0">
                <a:solidFill>
                  <a:srgbClr val="1C1D22"/>
                </a:solidFill>
              </a:rPr>
              <a:t>1.075 м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D64861-EE88-E36D-E39C-7B8569C26C12}"/>
              </a:ext>
            </a:extLst>
          </p:cNvPr>
          <p:cNvSpPr/>
          <p:nvPr/>
        </p:nvSpPr>
        <p:spPr>
          <a:xfrm>
            <a:off x="411480" y="5266944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F41432-4EF5-F77E-FB8D-61FD7238AD82}"/>
              </a:ext>
            </a:extLst>
          </p:cNvPr>
          <p:cNvSpPr txBox="1"/>
          <p:nvPr/>
        </p:nvSpPr>
        <p:spPr>
          <a:xfrm>
            <a:off x="521208" y="5285231"/>
            <a:ext cx="2286000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C1D22"/>
                </a:solidFill>
              </a:rPr>
              <a:t>emergency_deceleration  </a:t>
            </a:r>
            <a:r>
              <a:rPr sz="850" b="1" i="0">
                <a:solidFill>
                  <a:srgbClr val="1C1D22"/>
                </a:solidFill>
              </a:rPr>
              <a:t>1.20 м/с²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044F2C0-8BF5-F41C-5D04-1BE2F84126A5}"/>
              </a:ext>
            </a:extLst>
          </p:cNvPr>
          <p:cNvSpPr/>
          <p:nvPr/>
        </p:nvSpPr>
        <p:spPr>
          <a:xfrm>
            <a:off x="3017520" y="5266944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10EAF7-41AA-3E96-AC77-529B53C42A45}"/>
              </a:ext>
            </a:extLst>
          </p:cNvPr>
          <p:cNvSpPr txBox="1"/>
          <p:nvPr/>
        </p:nvSpPr>
        <p:spPr>
          <a:xfrm>
            <a:off x="3127248" y="5285231"/>
            <a:ext cx="2286000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C1D22"/>
                </a:solidFill>
              </a:rPr>
              <a:t>system_reaction_time  </a:t>
            </a:r>
            <a:r>
              <a:rPr sz="850" b="1" i="0">
                <a:solidFill>
                  <a:srgbClr val="1C1D22"/>
                </a:solidFill>
              </a:rPr>
              <a:t>0.50 с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6A38003-1B33-6AA1-B873-6A9E870C16DD}"/>
              </a:ext>
            </a:extLst>
          </p:cNvPr>
          <p:cNvSpPr/>
          <p:nvPr/>
        </p:nvSpPr>
        <p:spPr>
          <a:xfrm>
            <a:off x="411480" y="5742431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431342-0371-4B4E-3200-5A26CA735440}"/>
              </a:ext>
            </a:extLst>
          </p:cNvPr>
          <p:cNvSpPr txBox="1"/>
          <p:nvPr/>
        </p:nvSpPr>
        <p:spPr>
          <a:xfrm>
            <a:off x="521208" y="5760719"/>
            <a:ext cx="2286000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C1D22"/>
                </a:solidFill>
              </a:rPr>
              <a:t>train_speed_mps  </a:t>
            </a:r>
            <a:r>
              <a:rPr sz="850" b="1" i="0">
                <a:solidFill>
                  <a:srgbClr val="1C1D22"/>
                </a:solidFill>
              </a:rPr>
              <a:t>0 → по лидару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024684C-95E5-CDFC-A16B-AE8B06655B65}"/>
              </a:ext>
            </a:extLst>
          </p:cNvPr>
          <p:cNvSpPr/>
          <p:nvPr/>
        </p:nvSpPr>
        <p:spPr>
          <a:xfrm>
            <a:off x="3017520" y="5742431"/>
            <a:ext cx="24688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9B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52E6EE-1766-13E9-4F46-D0FDAECFA862}"/>
              </a:ext>
            </a:extLst>
          </p:cNvPr>
          <p:cNvSpPr txBox="1"/>
          <p:nvPr/>
        </p:nvSpPr>
        <p:spPr>
          <a:xfrm>
            <a:off x="3127248" y="5760719"/>
            <a:ext cx="2286000" cy="365760"/>
          </a:xfrm>
          <a:prstGeom prst="rect">
            <a:avLst/>
          </a:prstGeom>
          <a:noFill/>
        </p:spPr>
        <p:txBody>
          <a:bodyPr wrap="square" lIns="0" tIns="18288" rIns="0" bIns="18288" anchor="ctr"/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C1D22"/>
                </a:solidFill>
              </a:rPr>
              <a:t>lidar_topic  </a:t>
            </a:r>
            <a:r>
              <a:rPr sz="850" b="1" i="0">
                <a:solidFill>
                  <a:srgbClr val="1C1D22"/>
                </a:solidFill>
              </a:rPr>
              <a:t>автоопределение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B94D0B5-483E-D416-D97E-6B7EAA6D12FC}"/>
              </a:ext>
            </a:extLst>
          </p:cNvPr>
          <p:cNvGraphicFramePr>
            <a:graphicFrameLocks noGrp="1"/>
          </p:cNvGraphicFramePr>
          <p:nvPr/>
        </p:nvGraphicFramePr>
        <p:xfrm>
          <a:off x="5806440" y="1234440"/>
          <a:ext cx="5943600" cy="4535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Топик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Содержимое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520978"/>
                      </a:solidFill>
                    </a:lnB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C1D22"/>
                          </a:solidFill>
                        </a:rPr>
                        <a:t>/metro/obstacles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</a:rPr>
                        <a:t>ObstacleArray: препятствия, статус, флаг торможения, TTC, тормозной путь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5209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C1D22"/>
                          </a:solidFill>
                        </a:rPr>
                        <a:t>/metro/track_path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</a:rPr>
                        <a:t>nav_msgs/Path: 3D-ось пути на 150 м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C1D22"/>
                          </a:solidFill>
                        </a:rPr>
                        <a:t>/metro/track_profile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</a:rPr>
                        <a:t>TrackProfile: УГР, рельсы, кривизна, уклон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C1D22"/>
                          </a:solidFill>
                        </a:rPr>
                        <a:t>/metro/train_speed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</a:rPr>
                        <a:t>Float32: скорость поезда по лидару, м/с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C1D22"/>
                          </a:solidFill>
                        </a:rPr>
                        <a:t>/metro/telemetry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</a:rPr>
                        <a:t>SystemHealth: время кадра, FPS, число точек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C1D22"/>
                          </a:solidFill>
                        </a:rPr>
                        <a:t>/metro/markers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</a:rPr>
                        <a:t>MarkerArray: 3D-боксы с цветом угрозы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6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C1D22"/>
                          </a:solidFill>
                        </a:rPr>
                        <a:t>/metro/clearance_envelope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C1D22"/>
                          </a:solidFill>
                        </a:rPr>
                        <a:t>MarkerArray: каркас габарита «М»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4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Номер слайда 35">
            <a:extLst>
              <a:ext uri="{FF2B5EF4-FFF2-40B4-BE49-F238E27FC236}">
                <a16:creationId xmlns:a16="http://schemas.microsoft.com/office/drawing/2014/main" id="{40A812E7-FAEB-14BB-2F06-8AEACC1CE008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19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320040"/>
            <a:ext cx="4617720" cy="6217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36576" rIns="182880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</a:rPr>
              <a:t>НАПРАВЛЕНИЯ РАЗВИТИЯ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2041265"/>
            <a:ext cx="9217152" cy="0"/>
          </a:xfrm>
          <a:prstGeom prst="line">
            <a:avLst/>
          </a:prstGeom>
          <a:ln w="19050">
            <a:solidFill>
              <a:srgbClr val="FF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11480" y="1766945"/>
            <a:ext cx="548640" cy="548640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635625"/>
            <a:ext cx="2121408" cy="2834640"/>
          </a:xfrm>
          <a:prstGeom prst="roundRect">
            <a:avLst>
              <a:gd name="adj" fmla="val 6034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800217"/>
            <a:ext cx="1783080" cy="6858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 dirty="0" err="1">
                <a:solidFill>
                  <a:srgbClr val="FFFFFF"/>
                </a:solidFill>
              </a:rPr>
              <a:t>Горизонт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rgbClr val="FFFFFF"/>
                </a:solidFill>
              </a:rPr>
              <a:t>20</a:t>
            </a:r>
            <a:r>
              <a:rPr sz="1500" b="1" i="0" dirty="0">
                <a:solidFill>
                  <a:srgbClr val="FFFFFF"/>
                </a:solidFill>
              </a:rPr>
              <a:t>0</a:t>
            </a:r>
            <a:r>
              <a:rPr lang="en-US" sz="1500" b="1" i="0" dirty="0">
                <a:solidFill>
                  <a:srgbClr val="FFFFFF"/>
                </a:solidFill>
              </a:rPr>
              <a:t>+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м</a:t>
            </a:r>
            <a:endParaRPr sz="1500" b="1" i="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3595745"/>
            <a:ext cx="1783080" cy="21945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FFD6E4"/>
                </a:solidFill>
              </a:rPr>
              <a:t>Кривизна оси на дальнем горизонте — по стенам и своду вместо экстраполяции по касательной</a:t>
            </a:r>
          </a:p>
        </p:txBody>
      </p:sp>
      <p:sp>
        <p:nvSpPr>
          <p:cNvPr id="8" name="Oval 7"/>
          <p:cNvSpPr/>
          <p:nvPr/>
        </p:nvSpPr>
        <p:spPr>
          <a:xfrm>
            <a:off x="2715768" y="1766945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520978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2635625"/>
            <a:ext cx="2121408" cy="2834640"/>
          </a:xfrm>
          <a:prstGeom prst="roundRect">
            <a:avLst>
              <a:gd name="adj" fmla="val 6034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2800217"/>
            <a:ext cx="1783080" cy="6858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GPU-ускорение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595745"/>
            <a:ext cx="1783080" cy="21945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 dirty="0" err="1">
                <a:solidFill>
                  <a:srgbClr val="FFD6E4"/>
                </a:solidFill>
              </a:rPr>
              <a:t>Флаг</a:t>
            </a:r>
            <a:r>
              <a:rPr sz="1200" b="0" i="0" dirty="0">
                <a:solidFill>
                  <a:srgbClr val="FFD6E4"/>
                </a:solidFill>
              </a:rPr>
              <a:t> </a:t>
            </a:r>
            <a:r>
              <a:rPr sz="1200" b="0" i="0" dirty="0" err="1">
                <a:solidFill>
                  <a:srgbClr val="FFD6E4"/>
                </a:solidFill>
              </a:rPr>
              <a:t>use_gpu</a:t>
            </a:r>
            <a:r>
              <a:rPr sz="1200" b="0" i="0" dirty="0">
                <a:solidFill>
                  <a:srgbClr val="FFD6E4"/>
                </a:solidFill>
              </a:rPr>
              <a:t> </a:t>
            </a:r>
            <a:r>
              <a:rPr sz="1200" b="0" i="0" dirty="0" err="1">
                <a:solidFill>
                  <a:srgbClr val="FFD6E4"/>
                </a:solidFill>
              </a:rPr>
              <a:t>уже</a:t>
            </a:r>
            <a:r>
              <a:rPr sz="1200" b="0" i="0" dirty="0">
                <a:solidFill>
                  <a:srgbClr val="FFD6E4"/>
                </a:solidFill>
              </a:rPr>
              <a:t> </a:t>
            </a:r>
            <a:r>
              <a:rPr sz="1200" b="0" i="0" dirty="0" err="1">
                <a:solidFill>
                  <a:srgbClr val="FFD6E4"/>
                </a:solidFill>
              </a:rPr>
              <a:t>в</a:t>
            </a:r>
            <a:r>
              <a:rPr sz="1200" b="0" i="0" dirty="0">
                <a:solidFill>
                  <a:srgbClr val="FFD6E4"/>
                </a:solidFill>
              </a:rPr>
              <a:t> </a:t>
            </a:r>
            <a:r>
              <a:rPr sz="1200" b="0" i="0" dirty="0" err="1">
                <a:solidFill>
                  <a:srgbClr val="FFD6E4"/>
                </a:solidFill>
              </a:rPr>
              <a:t>конфигурации</a:t>
            </a:r>
            <a:r>
              <a:rPr sz="1200" b="0" i="0" dirty="0">
                <a:solidFill>
                  <a:srgbClr val="FFD6E4"/>
                </a:solidFill>
              </a:rPr>
              <a:t>: CUDA-</a:t>
            </a:r>
            <a:r>
              <a:rPr sz="1200" b="0" i="0" dirty="0" err="1">
                <a:solidFill>
                  <a:srgbClr val="FFD6E4"/>
                </a:solidFill>
              </a:rPr>
              <a:t>вокселизация</a:t>
            </a:r>
            <a:r>
              <a:rPr sz="1200" b="0" i="0" dirty="0">
                <a:solidFill>
                  <a:srgbClr val="FFD6E4"/>
                </a:solidFill>
              </a:rPr>
              <a:t> </a:t>
            </a:r>
            <a:r>
              <a:rPr sz="1200" b="0" i="0" dirty="0" err="1">
                <a:solidFill>
                  <a:srgbClr val="FFD6E4"/>
                </a:solidFill>
              </a:rPr>
              <a:t>и</a:t>
            </a:r>
            <a:r>
              <a:rPr sz="1200" b="0" i="0" dirty="0">
                <a:solidFill>
                  <a:srgbClr val="FFD6E4"/>
                </a:solidFill>
              </a:rPr>
              <a:t> SDF </a:t>
            </a:r>
            <a:r>
              <a:rPr sz="1200" b="0" i="0" dirty="0" err="1">
                <a:solidFill>
                  <a:srgbClr val="FFD6E4"/>
                </a:solidFill>
              </a:rPr>
              <a:t>под</a:t>
            </a:r>
            <a:r>
              <a:rPr sz="1200" b="0" i="0" dirty="0">
                <a:solidFill>
                  <a:srgbClr val="FFD6E4"/>
                </a:solidFill>
              </a:rPr>
              <a:t> RTX 4070 Ti SUPER </a:t>
            </a:r>
            <a:r>
              <a:rPr sz="1200" b="0" i="0" dirty="0" err="1">
                <a:solidFill>
                  <a:srgbClr val="FFD6E4"/>
                </a:solidFill>
              </a:rPr>
              <a:t>стенда</a:t>
            </a:r>
            <a:endParaRPr sz="1200" b="0" i="0" dirty="0">
              <a:solidFill>
                <a:srgbClr val="FFD6E4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20056" y="1766945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520978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0056" y="2635625"/>
            <a:ext cx="2121408" cy="2834640"/>
          </a:xfrm>
          <a:prstGeom prst="roundRect">
            <a:avLst>
              <a:gd name="adj" fmla="val 6034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2936" y="2800217"/>
            <a:ext cx="1783080" cy="6858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Слияние сенсоров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3595745"/>
            <a:ext cx="1783080" cy="21945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FFD6E4"/>
                </a:solidFill>
              </a:rPr>
              <a:t>Радар или видеоканал для задымления и плотной пыли</a:t>
            </a:r>
          </a:p>
        </p:txBody>
      </p:sp>
      <p:sp>
        <p:nvSpPr>
          <p:cNvPr id="16" name="Oval 15"/>
          <p:cNvSpPr/>
          <p:nvPr/>
        </p:nvSpPr>
        <p:spPr>
          <a:xfrm>
            <a:off x="7324344" y="1766945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520978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24344" y="2635625"/>
            <a:ext cx="2121408" cy="2834640"/>
          </a:xfrm>
          <a:prstGeom prst="roundRect">
            <a:avLst>
              <a:gd name="adj" fmla="val 6034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07223" y="2800217"/>
            <a:ext cx="1783080" cy="6858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Эталон тоннеля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3" y="3595745"/>
            <a:ext cx="1783080" cy="21945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FFD6E4"/>
                </a:solidFill>
              </a:rPr>
              <a:t>Карта «чистого» тоннеля по проездам: поиск объектов мельче 10 см по отличиям</a:t>
            </a:r>
          </a:p>
        </p:txBody>
      </p:sp>
      <p:sp>
        <p:nvSpPr>
          <p:cNvPr id="20" name="Oval 19"/>
          <p:cNvSpPr/>
          <p:nvPr/>
        </p:nvSpPr>
        <p:spPr>
          <a:xfrm>
            <a:off x="9628632" y="1766945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520978"/>
                </a:solidFill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28632" y="2635625"/>
            <a:ext cx="2121408" cy="2834640"/>
          </a:xfrm>
          <a:prstGeom prst="roundRect">
            <a:avLst>
              <a:gd name="adj" fmla="val 6034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1511" y="2800217"/>
            <a:ext cx="1783080" cy="68580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Интеграция с АРС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1" y="3595745"/>
            <a:ext cx="1783080" cy="219456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FFD6E4"/>
                </a:solidFill>
              </a:rPr>
              <a:t>Флаг экстренного торможения в ObstacleArray → АРС; испытания на стенде метрополитена</a:t>
            </a:r>
          </a:p>
        </p:txBody>
      </p:sp>
      <p:sp>
        <p:nvSpPr>
          <p:cNvPr id="26" name="Номер слайда 35">
            <a:extLst>
              <a:ext uri="{FF2B5EF4-FFF2-40B4-BE49-F238E27FC236}">
                <a16:creationId xmlns:a16="http://schemas.microsoft.com/office/drawing/2014/main" id="{76E6BB18-2627-3FCA-9990-3C61A4ABE174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20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770531"/>
            <a:ext cx="685800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lang="ru-RU" sz="4000" b="1" dirty="0">
                <a:solidFill>
                  <a:srgbClr val="FFFFFF"/>
                </a:solidFill>
              </a:rPr>
              <a:t>Команда «МОПСЫ»</a:t>
            </a:r>
            <a:r>
              <a:rPr sz="4000" b="1" i="0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59449"/>
            <a:ext cx="685800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lang="ru-RU" sz="1800" b="0" i="0" dirty="0">
                <a:solidFill>
                  <a:srgbClr val="FFD6E4"/>
                </a:solidFill>
              </a:rPr>
              <a:t>Контакты:</a:t>
            </a:r>
          </a:p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FFD6E4"/>
                </a:solidFill>
              </a:rPr>
              <a:t>Тарасов Демьян, </a:t>
            </a:r>
            <a:r>
              <a:rPr lang="en-US" sz="1800" b="1" i="0" dirty="0">
                <a:solidFill>
                  <a:srgbClr val="FFD6E4"/>
                </a:solidFill>
              </a:rPr>
              <a:t>@</a:t>
            </a:r>
            <a:r>
              <a:rPr lang="en-US" sz="1800" b="1" i="0" dirty="0" err="1">
                <a:solidFill>
                  <a:srgbClr val="FFD6E4"/>
                </a:solidFill>
              </a:rPr>
              <a:t>demanok</a:t>
            </a:r>
            <a:endParaRPr lang="ru-RU" sz="1800" b="1" i="0" dirty="0">
              <a:solidFill>
                <a:srgbClr val="FFD6E4"/>
              </a:solidFill>
            </a:endParaRPr>
          </a:p>
          <a:p>
            <a:pPr algn="l">
              <a:spcAft>
                <a:spcPts val="400"/>
              </a:spcAft>
            </a:pPr>
            <a:r>
              <a:rPr lang="ru-RU" b="1" dirty="0">
                <a:solidFill>
                  <a:srgbClr val="FFD6E4"/>
                </a:solidFill>
              </a:rPr>
              <a:t>Кондауров Матвей</a:t>
            </a:r>
            <a:r>
              <a:rPr lang="en-US" b="1" dirty="0">
                <a:solidFill>
                  <a:srgbClr val="FFD6E4"/>
                </a:solidFill>
              </a:rPr>
              <a:t>, @</a:t>
            </a:r>
            <a:r>
              <a:rPr lang="en-US" b="1" dirty="0" err="1">
                <a:solidFill>
                  <a:srgbClr val="FFD6E4"/>
                </a:solidFill>
              </a:rPr>
              <a:t>MatveyKondaurov</a:t>
            </a:r>
            <a:endParaRPr sz="1800" b="1" i="0" dirty="0">
              <a:solidFill>
                <a:srgbClr val="FFD6E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72DF8-7EE6-DAEE-5D6E-4625CB4216FD}"/>
              </a:ext>
            </a:extLst>
          </p:cNvPr>
          <p:cNvSpPr txBox="1"/>
          <p:nvPr/>
        </p:nvSpPr>
        <p:spPr>
          <a:xfrm>
            <a:off x="685800" y="3065930"/>
            <a:ext cx="6858000" cy="1097280"/>
          </a:xfrm>
          <a:prstGeom prst="rect">
            <a:avLst/>
          </a:prstGeom>
          <a:noFill/>
        </p:spPr>
        <p:txBody>
          <a:bodyPr wrap="square" lIns="0" tIns="18288" rIns="0" bIns="18288" anchor="t"/>
          <a:lstStyle/>
          <a:p>
            <a:pPr algn="l">
              <a:spcAft>
                <a:spcPts val="400"/>
              </a:spcAft>
            </a:pPr>
            <a:r>
              <a:rPr lang="ru-RU" dirty="0">
                <a:solidFill>
                  <a:srgbClr val="FFD6E4"/>
                </a:solidFill>
              </a:rPr>
              <a:t>Подробная информация и код</a:t>
            </a:r>
            <a:r>
              <a:rPr lang="ru-RU" sz="1800" b="0" i="0" dirty="0">
                <a:solidFill>
                  <a:srgbClr val="FFD6E4"/>
                </a:solidFill>
              </a:rPr>
              <a:t>:</a:t>
            </a:r>
          </a:p>
          <a:p>
            <a:pPr algn="l">
              <a:spcAft>
                <a:spcPts val="400"/>
              </a:spcAft>
            </a:pPr>
            <a:r>
              <a:rPr lang="ru-RU" sz="1800" i="0" dirty="0">
                <a:solidFill>
                  <a:srgbClr val="FFD6E4"/>
                </a:solidFill>
              </a:rPr>
              <a:t>Репа </a:t>
            </a:r>
            <a:r>
              <a:rPr lang="en-GB" sz="1800" b="1" i="1" dirty="0">
                <a:solidFill>
                  <a:srgbClr val="FFD6E4"/>
                </a:solidFill>
                <a:hlinkClick r:id="rId2"/>
              </a:rPr>
              <a:t>https://github.com/krisikas/MetroLidar2026</a:t>
            </a:r>
            <a:endParaRPr lang="ru-RU" sz="1800" b="1" i="1" dirty="0">
              <a:solidFill>
                <a:srgbClr val="FFD6E4"/>
              </a:solidFill>
            </a:endParaRPr>
          </a:p>
          <a:p>
            <a:pPr algn="l">
              <a:spcAft>
                <a:spcPts val="400"/>
              </a:spcAft>
            </a:pPr>
            <a:r>
              <a:rPr lang="ru-RU" sz="1800" dirty="0">
                <a:solidFill>
                  <a:srgbClr val="FFD6E4"/>
                </a:solidFill>
              </a:rPr>
              <a:t>Яндекс диск </a:t>
            </a:r>
            <a:r>
              <a:rPr lang="en-GB" b="1" i="1" dirty="0">
                <a:hlinkClick r:id="rId3"/>
              </a:rPr>
              <a:t>https://disk.yandex.ru/d/If8lk82Lm65f6g</a:t>
            </a:r>
            <a:endParaRPr lang="ru-RU" sz="1800" b="1" i="1" dirty="0">
              <a:solidFill>
                <a:srgbClr val="FFD6E4"/>
              </a:solidFill>
            </a:endParaRPr>
          </a:p>
        </p:txBody>
      </p:sp>
      <p:pic>
        <p:nvPicPr>
          <p:cNvPr id="7" name="Picture 6" descr="A puppy in a cup&#10;&#10;AI-generated content may be incorrect.">
            <a:extLst>
              <a:ext uri="{FF2B5EF4-FFF2-40B4-BE49-F238E27FC236}">
                <a16:creationId xmlns:a16="http://schemas.microsoft.com/office/drawing/2014/main" id="{D437492F-993D-2CAB-3EB3-6C015EB5A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984" y="1896932"/>
            <a:ext cx="3206577" cy="32111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F716CB07-FF64-5BF5-3877-AE34978240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15284" y="338260"/>
            <a:ext cx="1361431" cy="372109"/>
          </a:xfrm>
          <a:prstGeom prst="rect">
            <a:avLst/>
          </a:prstGeom>
        </p:spPr>
      </p:pic>
      <p:sp>
        <p:nvSpPr>
          <p:cNvPr id="9" name="Номер слайда 35">
            <a:extLst>
              <a:ext uri="{FF2B5EF4-FFF2-40B4-BE49-F238E27FC236}">
                <a16:creationId xmlns:a16="http://schemas.microsoft.com/office/drawing/2014/main" id="{148E638A-10D5-01F4-23BE-3D420AF14112}"/>
              </a:ext>
            </a:extLst>
          </p:cNvPr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bg1"/>
                </a:solidFill>
              </a:rPr>
              <a:t>21</a:t>
            </a:fld>
            <a:endParaRPr lang="ru-RU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2575</Words>
  <Application>Microsoft Macintosh PowerPoint</Application>
  <PresentationFormat>Widescreen</PresentationFormat>
  <Paragraphs>375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Consolas</vt:lpstr>
      <vt:lpstr>Montserrat</vt:lpstr>
      <vt:lpstr>Calibri</vt:lpstr>
      <vt:lpstr>Wingdings</vt:lpstr>
      <vt:lpstr>Для Академия инноваторов 16_9</vt:lpstr>
      <vt:lpstr>PowerPoint Presentation</vt:lpstr>
      <vt:lpstr>Команда «МОПСЫ»</vt:lpstr>
      <vt:lpstr>КОМАНДА: «МОПСЫ»</vt:lpstr>
      <vt:lpstr>История команды</vt:lpstr>
      <vt:lpstr>КОРОТКО О РЕШЕНИИ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Демьян Тарасов</cp:lastModifiedBy>
  <cp:revision>102</cp:revision>
  <dcterms:created xsi:type="dcterms:W3CDTF">2023-05-15T07:36:23Z</dcterms:created>
  <dcterms:modified xsi:type="dcterms:W3CDTF">2026-09-29T20:09:50Z</dcterms:modified>
</cp:coreProperties>
</file>